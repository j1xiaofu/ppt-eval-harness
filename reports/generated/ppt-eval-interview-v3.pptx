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3e7bb744624c49" /><Relationship Type="http://schemas.openxmlformats.org/officeDocument/2006/relationships/extended-properties" Target="/docProps/app.xml" Id="Ra7b5aecd41a64f14" /><Relationship Type="http://schemas.openxmlformats.org/officeDocument/2006/relationships/officeDocument" Target="/ppt/presentation.xml" Id="R52be8403a89048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191588c6014aa4"/>
  </p:sldMasterIdLst>
  <p:notesMasterIdLst>
    <p:notesMasterId xmlns:r="http://schemas.openxmlformats.org/officeDocument/2006/relationships" r:id="R65e7a1e863a94258"/>
  </p:notesMasterIdLst>
  <p:sldIdLst>
    <p:sldId xmlns:r="http://schemas.openxmlformats.org/officeDocument/2006/relationships" id="256" r:id="R3226dae05f6c4739"/>
    <p:sldId xmlns:r="http://schemas.openxmlformats.org/officeDocument/2006/relationships" id="257" r:id="Rdb48afc781294c9f"/>
    <p:sldId xmlns:r="http://schemas.openxmlformats.org/officeDocument/2006/relationships" id="258" r:id="R02478c3a4d174239"/>
    <p:sldId xmlns:r="http://schemas.openxmlformats.org/officeDocument/2006/relationships" id="259" r:id="Rc31788918de047b3"/>
    <p:sldId xmlns:r="http://schemas.openxmlformats.org/officeDocument/2006/relationships" id="260" r:id="Rcfb50ab9946b40a7"/>
    <p:sldId xmlns:r="http://schemas.openxmlformats.org/officeDocument/2006/relationships" id="261" r:id="R0b1e0885455642ae"/>
    <p:sldId xmlns:r="http://schemas.openxmlformats.org/officeDocument/2006/relationships" id="262" r:id="R9709d44879a14377"/>
    <p:sldId xmlns:r="http://schemas.openxmlformats.org/officeDocument/2006/relationships" id="263" r:id="Rccea4fed65a44f2e"/>
    <p:sldId xmlns:r="http://schemas.openxmlformats.org/officeDocument/2006/relationships" id="264" r:id="R67d16a85681045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1d750e6b7c4fe1" /><Relationship Type="http://schemas.openxmlformats.org/officeDocument/2006/relationships/slideMaster" Target="/ppt/slideMasters/slideMaster1.xml" Id="R41191588c6014aa4" /><Relationship Type="http://schemas.openxmlformats.org/officeDocument/2006/relationships/notesMaster" Target="/ppt/notesMasters/notesMaster1.xml" Id="R65e7a1e863a94258" /><Relationship Type="http://schemas.openxmlformats.org/officeDocument/2006/relationships/presProps" Target="/ppt/presProps.xml" Id="R1e0f3ba14e39489f" /><Relationship Type="http://schemas.openxmlformats.org/officeDocument/2006/relationships/tableStyles" Target="/ppt/tableStyles.xml" Id="R078d7a1d0c8045fa" /><Relationship Type="http://schemas.openxmlformats.org/officeDocument/2006/relationships/slide" Target="/ppt/slides/slide1.xml" Id="R3226dae05f6c4739" /><Relationship Type="http://schemas.openxmlformats.org/officeDocument/2006/relationships/slide" Target="/ppt/slides/slide2.xml" Id="Rdb48afc781294c9f" /><Relationship Type="http://schemas.openxmlformats.org/officeDocument/2006/relationships/slide" Target="/ppt/slides/slide3.xml" Id="R02478c3a4d174239" /><Relationship Type="http://schemas.openxmlformats.org/officeDocument/2006/relationships/slide" Target="/ppt/slides/slide4.xml" Id="Rc31788918de047b3" /><Relationship Type="http://schemas.openxmlformats.org/officeDocument/2006/relationships/slide" Target="/ppt/slides/slide5.xml" Id="Rcfb50ab9946b40a7" /><Relationship Type="http://schemas.openxmlformats.org/officeDocument/2006/relationships/slide" Target="/ppt/slides/slide6.xml" Id="R0b1e0885455642ae" /><Relationship Type="http://schemas.openxmlformats.org/officeDocument/2006/relationships/slide" Target="/ppt/slides/slide7.xml" Id="R9709d44879a14377" /><Relationship Type="http://schemas.openxmlformats.org/officeDocument/2006/relationships/slide" Target="/ppt/slides/slide8.xml" Id="Rccea4fed65a44f2e" /><Relationship Type="http://schemas.openxmlformats.org/officeDocument/2006/relationships/slide" Target="/ppt/slides/slide9.xml" Id="R67d16a85681045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31ad9c5aa842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0e84224bd94325" /><Relationship Type="http://schemas.openxmlformats.org/officeDocument/2006/relationships/notesMaster" Target="/ppt/notesMasters/notesMaster1.xml" Id="Rbd87c27429694b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aed9b768794e9d" /><Relationship Type="http://schemas.openxmlformats.org/officeDocument/2006/relationships/notesMaster" Target="/ppt/notesMasters/notesMaster1.xml" Id="R9e76ee4b0a8e47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c9e59eac664d55" /><Relationship Type="http://schemas.openxmlformats.org/officeDocument/2006/relationships/notesMaster" Target="/ppt/notesMasters/notesMaster1.xml" Id="Ra9ff700624cb48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cbad80c685408d" /><Relationship Type="http://schemas.openxmlformats.org/officeDocument/2006/relationships/notesMaster" Target="/ppt/notesMasters/notesMaster1.xml" Id="R89bd940460e04f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8b634365124857" /><Relationship Type="http://schemas.openxmlformats.org/officeDocument/2006/relationships/notesMaster" Target="/ppt/notesMasters/notesMaster1.xml" Id="R124a672dac804c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d230c54b2746cb" /><Relationship Type="http://schemas.openxmlformats.org/officeDocument/2006/relationships/notesMaster" Target="/ppt/notesMasters/notesMaster1.xml" Id="R0824545e916e49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24402c7dce4b76" /><Relationship Type="http://schemas.openxmlformats.org/officeDocument/2006/relationships/notesMaster" Target="/ppt/notesMasters/notesMaster1.xml" Id="Rb29177d1de7040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46c5f2748c4306" /><Relationship Type="http://schemas.openxmlformats.org/officeDocument/2006/relationships/notesMaster" Target="/ppt/notesMasters/notesMaster1.xml" Id="R9660f36a12ff4f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e97bf97e6c4054" /><Relationship Type="http://schemas.openxmlformats.org/officeDocument/2006/relationships/notesMaster" Target="/ppt/notesMasters/notesMaster1.xml" Id="R76dbb01dbce54b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reports/01_research/00_project_charter.md (sha256:unavailable)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(sha256:bc9e03d4cfe2b06dd1f9070a2a1ebbf660c548c8e133ed40656b50293075642a)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reports/01_research/01_related_work_matrix.md (sha256:0030aabb5537cb33578e976842fd317b5ff56e23be4a72be43a6825a95be1654)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(sha256:bc9e03d4cfe2b06dd1f9070a2a1ebbf660c548c8e133ed40656b50293075642a)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reports/01_research/02_ppt_pdms_migration.md (sha256:409ce2855b5ce716cf945ab34b607621908fb7c38ad12ff5381d39aa29a7c2f9)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(sha256:bc9e03d4cfe2b06dd1f9070a2a1ebbf660c548c8e133ed40656b50293075642a)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reports/02_development/01_system_design.md (sha256:b60cea69b747874d6e2ada325ee31f6ad288413842883f8a604af949118fafca)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(sha256:bc9e03d4cfe2b06dd1f9070a2a1ebbf660c548c8e133ed40656b50293075642a)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reports/02_development/00_srs.md (sha256:c8b7e7be35891ff35d71d7eebe7257b26c8974a788aaea64a10e603367f609c8)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(sha256:bc9e03d4cfe2b06dd1f9070a2a1ebbf660c548c8e133ed40656b50293075642a)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reports/02_development/04_traceability_matrix.md (sha256:5b7ededec4ffb4fbac540fd6e0771fdc2a49bacda95770fa3ef1385930fe5e23)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(sha256:bc9e03d4cfe2b06dd1f9070a2a1ebbf660c548c8e133ed40656b50293075642a)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reports/03_evaluation/00_preregistration.md (sha256:1fa9f7452053addad8744760cd5f2deee4c8619b84239b8fc0563eaf8eb09f7d)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(sha256:bc9e03d4cfe2b06dd1f9070a2a1ebbf660c548c8e133ed40656b50293075642a)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reports/03_evaluation/04_mvp_verification.md (sha256:1c25da937d3aa2bf3f1464307b9394d77e8b2ad53b79c0d26590f167ba37daf4)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(sha256:bc9e03d4cfe2b06dd1f9070a2a1ebbf660c548c8e133ed40656b50293075642a)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reports/03_evaluation/02_acceptance_and_shadow.md (sha256:abc6d7fd3c3ab37e3cb6a335dd0ffa638af2a84c97b7633500dad510e8d9e95e)</a:t>
            </a:r>
          </a:p>
          <a:p xmlns:a="http://schemas.openxmlformats.org/drawingml/2006/main">
            <a:r>
              <a:t>- audit snapshot: D:\Campus study\实习\腾讯优图\入职面试\PPT自动评测基线\audit\example\project_audit.json (sha256:bc9e03d4cfe2b06dd1f9070a2a1ebbf660c548c8e133ed40656b50293075642a)</a:t>
            </a:r>
          </a:p>
          <a:p xmlns:a="http://schemas.openxmlformats.org/drawingml/2006/main">
            <a:r>
              <a:t>Status note: planned targets are not observed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bd64f6c3a442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eadbb29bc94d09" /><Relationship Type="http://schemas.openxmlformats.org/officeDocument/2006/relationships/slideLayout" Target="/ppt/slideLayouts/slideLayout1.xml" Id="R730c6fe1fd834b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0c6fe1fd834b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38496dead43b2" /><Relationship Type="http://schemas.openxmlformats.org/officeDocument/2006/relationships/notesSlide" Target="/ppt/notesSlides/notesSlide1.xml" Id="R2d1af862972a48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ab97b66474630" /><Relationship Type="http://schemas.openxmlformats.org/officeDocument/2006/relationships/notesSlide" Target="/ppt/notesSlides/notesSlide2.xml" Id="Rd30916de75b549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aed0ab5874f2a" /><Relationship Type="http://schemas.openxmlformats.org/officeDocument/2006/relationships/notesSlide" Target="/ppt/notesSlides/notesSlide3.xml" Id="Rf9210e63b4bb46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9b110ac2645ae" /><Relationship Type="http://schemas.openxmlformats.org/officeDocument/2006/relationships/notesSlide" Target="/ppt/notesSlides/notesSlide4.xml" Id="Ra7c925852a8f40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29b8b41904493" /><Relationship Type="http://schemas.openxmlformats.org/officeDocument/2006/relationships/notesSlide" Target="/ppt/notesSlides/notesSlide5.xml" Id="Rabf0b4420d164f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3abdb4f2e41c0" /><Relationship Type="http://schemas.openxmlformats.org/officeDocument/2006/relationships/notesSlide" Target="/ppt/notesSlides/notesSlide6.xml" Id="R513f2f73ea3348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9ab1bd4574edf" /><Relationship Type="http://schemas.openxmlformats.org/officeDocument/2006/relationships/notesSlide" Target="/ppt/notesSlides/notesSlide7.xml" Id="R5fdfebe34ce244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2b29098d7485c" /><Relationship Type="http://schemas.openxmlformats.org/officeDocument/2006/relationships/notesSlide" Target="/ppt/notesSlides/notesSlide8.xml" Id="Ra68379fe56bd44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1c72feb4a4d25" /><Relationship Type="http://schemas.openxmlformats.org/officeDocument/2006/relationships/notesSlide" Target="/ppt/notesSlides/notesSlide9.xml" Id="R87780985bfd840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hapter-0">
            <a:extLst xmlns:a="http://schemas.openxmlformats.org/drawingml/2006/main">
              <a:ext uri="{FF2B5EF4-FFF2-40B4-BE49-F238E27FC236}">
                <a16:creationId xmlns:a16="http://schemas.microsoft.com/office/drawing/2014/main" id="{D438861B-5CC1-472E-AC99-AC957A4A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调研 / 01</a:t>
            </a:r>
          </a:p>
        </p:txBody>
      </p:sp>
      <p:sp>
        <p:nvSpPr>
          <p:cNvPr id="2" name="title-0">
            <a:extLst xmlns:a="http://schemas.openxmlformats.org/drawingml/2006/main">
              <a:ext uri="{FF2B5EF4-FFF2-40B4-BE49-F238E27FC236}">
                <a16:creationId xmlns:a16="http://schemas.microsoft.com/office/drawing/2014/main" id="{D95912F4-9A4F-49A9-AA86-1CB10FD7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先证明问题，再写评测器</a:t>
            </a:r>
          </a:p>
        </p:txBody>
      </p:sp>
      <p:sp>
        <p:nvSpPr>
          <p:cNvPr id="3" name="number-0">
            <a:extLst xmlns:a="http://schemas.openxmlformats.org/drawingml/2006/main">
              <a:ext uri="{FF2B5EF4-FFF2-40B4-BE49-F238E27FC236}">
                <a16:creationId xmlns:a16="http://schemas.microsoft.com/office/drawing/2014/main" id="{77BDC7AD-837D-4555-BA76-CCC8E035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header-rule-0">
            <a:extLst xmlns:a="http://schemas.openxmlformats.org/drawingml/2006/main">
              <a:ext uri="{FF2B5EF4-FFF2-40B4-BE49-F238E27FC236}">
                <a16:creationId xmlns:a16="http://schemas.microsoft.com/office/drawing/2014/main" id="{E15CD248-0B23-489D-B251-3DA344F7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0">
            <a:extLst xmlns:a="http://schemas.openxmlformats.org/drawingml/2006/main">
              <a:ext uri="{FF2B5EF4-FFF2-40B4-BE49-F238E27FC236}">
                <a16:creationId xmlns:a16="http://schemas.microsoft.com/office/drawing/2014/main" id="{A9DE6AA8-65D4-450B-8D0F-2C3C4703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phase-band-0">
            <a:extLst xmlns:a="http://schemas.openxmlformats.org/drawingml/2006/main">
              <a:ext uri="{FF2B5EF4-FFF2-40B4-BE49-F238E27FC236}">
                <a16:creationId xmlns:a16="http://schemas.microsoft.com/office/drawing/2014/main" id="{BBBBF430-27BB-4B8F-A9C5-258C360C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428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aim-0">
            <a:extLst xmlns:a="http://schemas.openxmlformats.org/drawingml/2006/main">
              <a:ext uri="{FF2B5EF4-FFF2-40B4-BE49-F238E27FC236}">
                <a16:creationId xmlns:a16="http://schemas.microsoft.com/office/drawing/2014/main" id="{7797637D-EEE6-4BCF-B6E3-91D52BF0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52600"/>
            <a:ext cx="9620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四场景共享本体质量，但证据条件和失败方式不同。</a:t>
            </a:r>
          </a:p>
        </p:txBody>
      </p:sp>
      <p:sp>
        <p:nvSpPr>
          <p:cNvPr id="8" name="phase-mark-0">
            <a:extLst xmlns:a="http://schemas.openxmlformats.org/drawingml/2006/main">
              <a:ext uri="{FF2B5EF4-FFF2-40B4-BE49-F238E27FC236}">
                <a16:creationId xmlns:a16="http://schemas.microsoft.com/office/drawing/2014/main" id="{3296BCA6-5EEE-4C9D-9E8D-A74F3083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76600"/>
            <a:ext cx="180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调研</a:t>
            </a:r>
          </a:p>
        </p:txBody>
      </p:sp>
      <p:sp>
        <p:nvSpPr>
          <p:cNvPr id="9" name="point-panel-0">
            <a:extLst xmlns:a="http://schemas.openxmlformats.org/drawingml/2006/main">
              <a:ext uri="{FF2B5EF4-FFF2-40B4-BE49-F238E27FC236}">
                <a16:creationId xmlns:a16="http://schemas.microsoft.com/office/drawing/2014/main" id="{B9398CDD-F718-47BD-BAA8-C99BFA79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19625"/>
            <a:ext cx="10191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oint-num-0-0">
            <a:extLst xmlns:a="http://schemas.openxmlformats.org/drawingml/2006/main">
              <a:ext uri="{FF2B5EF4-FFF2-40B4-BE49-F238E27FC236}">
                <a16:creationId xmlns:a16="http://schemas.microsoft.com/office/drawing/2014/main" id="{CFD6E7CD-8DFD-43A4-8041-B1F0C1E8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57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point-0-0">
            <a:extLst xmlns:a="http://schemas.openxmlformats.org/drawingml/2006/main">
              <a:ext uri="{FF2B5EF4-FFF2-40B4-BE49-F238E27FC236}">
                <a16:creationId xmlns:a16="http://schemas.microsoft.com/office/drawing/2014/main" id="{7AF8CB4B-EED6-4E22-933A-ADE3D215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006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任务定义先于指标</a:t>
            </a:r>
          </a:p>
        </p:txBody>
      </p:sp>
      <p:sp>
        <p:nvSpPr>
          <p:cNvPr id="12" name="point-num-0-1">
            <a:extLst xmlns:a="http://schemas.openxmlformats.org/drawingml/2006/main">
              <a:ext uri="{FF2B5EF4-FFF2-40B4-BE49-F238E27FC236}">
                <a16:creationId xmlns:a16="http://schemas.microsoft.com/office/drawing/2014/main" id="{0288F91C-E330-4587-AF61-823A1737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57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point-0-1">
            <a:extLst xmlns:a="http://schemas.openxmlformats.org/drawingml/2006/main">
              <a:ext uri="{FF2B5EF4-FFF2-40B4-BE49-F238E27FC236}">
                <a16:creationId xmlns:a16="http://schemas.microsoft.com/office/drawing/2014/main" id="{5BB59A12-4AF8-4893-9AAC-74AE1A8C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006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本体质量是强制兜底</a:t>
            </a:r>
          </a:p>
        </p:txBody>
      </p:sp>
      <p:sp>
        <p:nvSpPr>
          <p:cNvPr id="14" name="point-num-0-2">
            <a:extLst xmlns:a="http://schemas.openxmlformats.org/drawingml/2006/main">
              <a:ext uri="{FF2B5EF4-FFF2-40B4-BE49-F238E27FC236}">
                <a16:creationId xmlns:a16="http://schemas.microsoft.com/office/drawing/2014/main" id="{911B441E-0362-4A8C-88A7-AD5E7D54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point-0-2">
            <a:extLst xmlns:a="http://schemas.openxmlformats.org/drawingml/2006/main">
              <a:ext uri="{FF2B5EF4-FFF2-40B4-BE49-F238E27FC236}">
                <a16:creationId xmlns:a16="http://schemas.microsoft.com/office/drawing/2014/main" id="{DA34D506-8771-4D2E-A6AC-00976785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006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研究门禁阻止无依据权重上线</a:t>
            </a:r>
          </a:p>
        </p:txBody>
      </p:sp>
    </p:spTree>
    <p:extLst>
      <p:ext uri="{BB962C8B-B14F-4D97-AF65-F5344CB8AC3E}">
        <p14:creationId xmlns:p14="http://schemas.microsoft.com/office/powerpoint/2010/main" val="10128518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chapter-1">
            <a:extLst xmlns:a="http://schemas.openxmlformats.org/drawingml/2006/main">
              <a:ext uri="{FF2B5EF4-FFF2-40B4-BE49-F238E27FC236}">
                <a16:creationId xmlns:a16="http://schemas.microsoft.com/office/drawing/2014/main" id="{CFA4CB2D-10E3-4C69-9676-B23F80DF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调研 / 02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7A7CC056-7223-46E9-9DFB-DAEFA45B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公开基线覆盖局部，工业闭环要求证据链</a:t>
            </a:r>
          </a:p>
        </p:txBody>
      </p:sp>
      <p:sp>
        <p:nvSpPr>
          <p:cNvPr id="3" name="number-1">
            <a:extLst xmlns:a="http://schemas.openxmlformats.org/drawingml/2006/main">
              <a:ext uri="{FF2B5EF4-FFF2-40B4-BE49-F238E27FC236}">
                <a16:creationId xmlns:a16="http://schemas.microsoft.com/office/drawing/2014/main" id="{DEB74E3F-FA87-46FD-8B0D-340A077D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header-rule-1">
            <a:extLst xmlns:a="http://schemas.openxmlformats.org/drawingml/2006/main">
              <a:ext uri="{FF2B5EF4-FFF2-40B4-BE49-F238E27FC236}">
                <a16:creationId xmlns:a16="http://schemas.microsoft.com/office/drawing/2014/main" id="{B3A0C3E6-E384-4316-B7D7-AE4CC711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">
            <a:extLst xmlns:a="http://schemas.openxmlformats.org/drawingml/2006/main">
              <a:ext uri="{FF2B5EF4-FFF2-40B4-BE49-F238E27FC236}">
                <a16:creationId xmlns:a16="http://schemas.microsoft.com/office/drawing/2014/main" id="{60DE6A77-F818-46AA-8D34-F9EC395A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1">
            <a:extLst xmlns:a="http://schemas.openxmlformats.org/drawingml/2006/main">
              <a:ext uri="{FF2B5EF4-FFF2-40B4-BE49-F238E27FC236}">
                <a16:creationId xmlns:a16="http://schemas.microsoft.com/office/drawing/2014/main" id="{9685994F-D72B-4582-A599-EC4E4CC8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062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单一 LLM/VLM 总分不能同时解决忠实性、可交付性与审计。</a:t>
            </a:r>
          </a:p>
        </p:txBody>
      </p:sp>
      <p:sp>
        <p:nvSpPr>
          <p:cNvPr id="7" name="matrix-head-a-1">
            <a:extLst xmlns:a="http://schemas.openxmlformats.org/drawingml/2006/main">
              <a:ext uri="{FF2B5EF4-FFF2-40B4-BE49-F238E27FC236}">
                <a16:creationId xmlns:a16="http://schemas.microsoft.com/office/drawing/2014/main" id="{716F99D0-3EBE-45CF-900B-CA28A824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比较维度</a:t>
            </a:r>
          </a:p>
        </p:txBody>
      </p:sp>
      <p:sp>
        <p:nvSpPr>
          <p:cNvPr id="8" name="matrix-head-b-1">
            <a:extLst xmlns:a="http://schemas.openxmlformats.org/drawingml/2006/main">
              <a:ext uri="{FF2B5EF4-FFF2-40B4-BE49-F238E27FC236}">
                <a16:creationId xmlns:a16="http://schemas.microsoft.com/office/drawing/2014/main" id="{BB5053F1-01E7-4639-B64F-292A821B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003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公开基线常见边界</a:t>
            </a:r>
          </a:p>
        </p:txBody>
      </p:sp>
      <p:sp>
        <p:nvSpPr>
          <p:cNvPr id="9" name="matrix-head-c-1">
            <a:extLst xmlns:a="http://schemas.openxmlformats.org/drawingml/2006/main">
              <a:ext uri="{FF2B5EF4-FFF2-40B4-BE49-F238E27FC236}">
                <a16:creationId xmlns:a16="http://schemas.microsoft.com/office/drawing/2014/main" id="{F1938879-3938-44FF-A73B-FECA7E4E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工业 Harness</a:t>
            </a:r>
          </a:p>
        </p:txBody>
      </p:sp>
      <p:sp>
        <p:nvSpPr>
          <p:cNvPr id="10" name="matrix-row-1-0">
            <a:extLst xmlns:a="http://schemas.openxmlformats.org/drawingml/2006/main">
              <a:ext uri="{FF2B5EF4-FFF2-40B4-BE49-F238E27FC236}">
                <a16:creationId xmlns:a16="http://schemas.microsoft.com/office/drawing/2014/main" id="{DD428E6D-3497-40B9-B170-70620D19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1" name="matrix-a-1-0">
            <a:extLst xmlns:a="http://schemas.openxmlformats.org/drawingml/2006/main">
              <a:ext uri="{FF2B5EF4-FFF2-40B4-BE49-F238E27FC236}">
                <a16:creationId xmlns:a16="http://schemas.microsoft.com/office/drawing/2014/main" id="{D9075D4F-7993-4B62-A3D8-1BB7B40B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结构证据</a:t>
            </a:r>
          </a:p>
        </p:txBody>
      </p:sp>
      <p:sp>
        <p:nvSpPr>
          <p:cNvPr id="12" name="matrix-b-1-0">
            <a:extLst xmlns:a="http://schemas.openxmlformats.org/drawingml/2006/main">
              <a:ext uri="{FF2B5EF4-FFF2-40B4-BE49-F238E27FC236}">
                <a16:creationId xmlns:a16="http://schemas.microsoft.com/office/drawing/2014/main" id="{20088434-F51E-48B1-9305-EB8FB07D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813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局部/缺失</a:t>
            </a:r>
          </a:p>
        </p:txBody>
      </p:sp>
      <p:sp>
        <p:nvSpPr>
          <p:cNvPr id="13" name="matrix-c-1-0">
            <a:extLst xmlns:a="http://schemas.openxmlformats.org/drawingml/2006/main">
              <a:ext uri="{FF2B5EF4-FFF2-40B4-BE49-F238E27FC236}">
                <a16:creationId xmlns:a16="http://schemas.microsoft.com/office/drawing/2014/main" id="{EF53E895-8955-4265-B867-73CC8B70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813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PPTX 对象树 + 渲染</a:t>
            </a:r>
          </a:p>
        </p:txBody>
      </p:sp>
      <p:sp>
        <p:nvSpPr>
          <p:cNvPr id="14" name="matrix-row-1-1">
            <a:extLst xmlns:a="http://schemas.openxmlformats.org/drawingml/2006/main">
              <a:ext uri="{FF2B5EF4-FFF2-40B4-BE49-F238E27FC236}">
                <a16:creationId xmlns:a16="http://schemas.microsoft.com/office/drawing/2014/main" id="{3F83E8A1-D685-435B-9CDB-CD37B49D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5" name="matrix-a-1-1">
            <a:extLst xmlns:a="http://schemas.openxmlformats.org/drawingml/2006/main">
              <a:ext uri="{FF2B5EF4-FFF2-40B4-BE49-F238E27FC236}">
                <a16:creationId xmlns:a16="http://schemas.microsoft.com/office/drawing/2014/main" id="{B0868A95-32E2-4697-98F6-01F03B9F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忠实与视觉</a:t>
            </a:r>
          </a:p>
        </p:txBody>
      </p:sp>
      <p:sp>
        <p:nvSpPr>
          <p:cNvPr id="16" name="matrix-b-1-1">
            <a:extLst xmlns:a="http://schemas.openxmlformats.org/drawingml/2006/main">
              <a:ext uri="{FF2B5EF4-FFF2-40B4-BE49-F238E27FC236}">
                <a16:creationId xmlns:a16="http://schemas.microsoft.com/office/drawing/2014/main" id="{F29A652F-96C2-4B55-A26E-86CCEF2F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480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常由单一 Judge 覆盖</a:t>
            </a:r>
          </a:p>
        </p:txBody>
      </p:sp>
      <p:sp>
        <p:nvSpPr>
          <p:cNvPr id="17" name="matrix-c-1-1">
            <a:extLst xmlns:a="http://schemas.openxmlformats.org/drawingml/2006/main">
              <a:ext uri="{FF2B5EF4-FFF2-40B4-BE49-F238E27FC236}">
                <a16:creationId xmlns:a16="http://schemas.microsoft.com/office/drawing/2014/main" id="{342EAA85-1F50-4881-B7FA-E59E7E3F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480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专项 Oracle + 视觉 Oracle</a:t>
            </a:r>
          </a:p>
        </p:txBody>
      </p:sp>
      <p:sp>
        <p:nvSpPr>
          <p:cNvPr id="18" name="matrix-row-1-2">
            <a:extLst xmlns:a="http://schemas.openxmlformats.org/drawingml/2006/main">
              <a:ext uri="{FF2B5EF4-FFF2-40B4-BE49-F238E27FC236}">
                <a16:creationId xmlns:a16="http://schemas.microsoft.com/office/drawing/2014/main" id="{D1874FC8-4905-45C6-AF9D-6F1C9F75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9" name="matrix-a-1-2">
            <a:extLst xmlns:a="http://schemas.openxmlformats.org/drawingml/2006/main">
              <a:ext uri="{FF2B5EF4-FFF2-40B4-BE49-F238E27FC236}">
                <a16:creationId xmlns:a16="http://schemas.microsoft.com/office/drawing/2014/main" id="{2A7879F7-F2FB-4A57-89C5-8460EE3C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执行错误</a:t>
            </a:r>
          </a:p>
        </p:txBody>
      </p:sp>
      <p:sp>
        <p:nvSpPr>
          <p:cNvPr id="20" name="matrix-b-1-2">
            <a:extLst xmlns:a="http://schemas.openxmlformats.org/drawingml/2006/main">
              <a:ext uri="{FF2B5EF4-FFF2-40B4-BE49-F238E27FC236}">
                <a16:creationId xmlns:a16="http://schemas.microsoft.com/office/drawing/2014/main" id="{D39100FD-9F32-4313-A4E8-A1A472CE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148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易混入低分</a:t>
            </a:r>
          </a:p>
        </p:txBody>
      </p:sp>
      <p:sp>
        <p:nvSpPr>
          <p:cNvPr id="21" name="matrix-c-1-2">
            <a:extLst xmlns:a="http://schemas.openxmlformats.org/drawingml/2006/main">
              <a:ext uri="{FF2B5EF4-FFF2-40B4-BE49-F238E27FC236}">
                <a16:creationId xmlns:a16="http://schemas.microsoft.com/office/drawing/2014/main" id="{CAEBE151-E227-476B-8DA7-13022C2F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148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ERROR 与 FAIL 类型隔离</a:t>
            </a:r>
          </a:p>
        </p:txBody>
      </p:sp>
      <p:sp>
        <p:nvSpPr>
          <p:cNvPr id="22" name="matrix-row-1-3">
            <a:extLst xmlns:a="http://schemas.openxmlformats.org/drawingml/2006/main">
              <a:ext uri="{FF2B5EF4-FFF2-40B4-BE49-F238E27FC236}">
                <a16:creationId xmlns:a16="http://schemas.microsoft.com/office/drawing/2014/main" id="{09F73907-EB96-4B5D-AC5E-A66B9E54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3" name="matrix-a-1-3">
            <a:extLst xmlns:a="http://schemas.openxmlformats.org/drawingml/2006/main">
              <a:ext uri="{FF2B5EF4-FFF2-40B4-BE49-F238E27FC236}">
                <a16:creationId xmlns:a16="http://schemas.microsoft.com/office/drawing/2014/main" id="{94C601E8-F38F-421D-80C0-21E9B18C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审计复现</a:t>
            </a:r>
          </a:p>
        </p:txBody>
      </p:sp>
      <p:sp>
        <p:nvSpPr>
          <p:cNvPr id="24" name="matrix-b-1-3">
            <a:extLst xmlns:a="http://schemas.openxmlformats.org/drawingml/2006/main">
              <a:ext uri="{FF2B5EF4-FFF2-40B4-BE49-F238E27FC236}">
                <a16:creationId xmlns:a16="http://schemas.microsoft.com/office/drawing/2014/main" id="{CA7711E7-40A1-47AE-B47A-93AF0120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815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版本信息不完整</a:t>
            </a:r>
          </a:p>
        </p:txBody>
      </p:sp>
      <p:sp>
        <p:nvSpPr>
          <p:cNvPr id="25" name="matrix-c-1-3">
            <a:extLst xmlns:a="http://schemas.openxmlformats.org/drawingml/2006/main">
              <a:ext uri="{FF2B5EF4-FFF2-40B4-BE49-F238E27FC236}">
                <a16:creationId xmlns:a16="http://schemas.microsoft.com/office/drawing/2014/main" id="{7F687CF2-C3E2-4DF3-94EC-850FDBA1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815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Manifest + append-only 事件</a:t>
            </a:r>
          </a:p>
        </p:txBody>
      </p:sp>
      <p:sp>
        <p:nvSpPr>
          <p:cNvPr id="26" name="note-1">
            <a:extLst xmlns:a="http://schemas.openxmlformats.org/drawingml/2006/main">
              <a:ext uri="{FF2B5EF4-FFF2-40B4-BE49-F238E27FC236}">
                <a16:creationId xmlns:a16="http://schemas.microsoft.com/office/drawing/2014/main" id="{EF03B864-ACC5-4724-BDDE-3B7A973F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PPTEval：模型评分受凭证阻塞；SlidesBench：客观 smoke 已完成，其余评分受公开缺失项与凭证限制。</a:t>
            </a:r>
          </a:p>
        </p:txBody>
      </p:sp>
      <p:sp>
        <p:nvSpPr>
          <p:cNvPr id="27" name="dataset-note-1">
            <a:extLst xmlns:a="http://schemas.openxmlformats.org/drawingml/2006/main">
              <a:ext uri="{FF2B5EF4-FFF2-40B4-BE49-F238E27FC236}">
                <a16:creationId xmlns:a16="http://schemas.microsoft.com/office/drawing/2014/main" id="{525152C6-561E-47B7-94AA-DD448049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数据侧：15 个公开候选已审计；优先 UniPPTBench、SlideAudit 与逐文件许可 PPTX，中文企业金标仍缺。</a:t>
            </a:r>
          </a:p>
        </p:txBody>
      </p:sp>
    </p:spTree>
    <p:extLst>
      <p:ext uri="{BB962C8B-B14F-4D97-AF65-F5344CB8AC3E}">
        <p14:creationId xmlns:p14="http://schemas.microsoft.com/office/powerpoint/2010/main" val="10273024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hapter-2">
            <a:extLst xmlns:a="http://schemas.openxmlformats.org/drawingml/2006/main">
              <a:ext uri="{FF2B5EF4-FFF2-40B4-BE49-F238E27FC236}">
                <a16:creationId xmlns:a16="http://schemas.microsoft.com/office/drawing/2014/main" id="{793630B8-1966-4ACC-B3A3-EA86B006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调研 / 03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5B62AFA-AA94-41B0-BEB5-EE42B5A2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PPT-PDMS 把不可补偿缺陷放在公式外层</a:t>
            </a:r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7B71B0A0-5254-4F6B-B465-2F0BF9F5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1E544809-CA9A-426B-A4A5-DED510A6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C0531ADB-7DFB-4507-90DF-CCC6FB57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2">
            <a:extLst xmlns:a="http://schemas.openxmlformats.org/drawingml/2006/main">
              <a:ext uri="{FF2B5EF4-FFF2-40B4-BE49-F238E27FC236}">
                <a16:creationId xmlns:a16="http://schemas.microsoft.com/office/drawing/2014/main" id="{6E429324-C1ED-4113-95A5-F99180F9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少量高置信硬错误相乘，其他性能在内层加权。</a:t>
            </a:r>
          </a:p>
        </p:txBody>
      </p:sp>
      <p:sp>
        <p:nvSpPr>
          <p:cNvPr id="7" name="outer-2">
            <a:extLst xmlns:a="http://schemas.openxmlformats.org/drawingml/2006/main">
              <a:ext uri="{FF2B5EF4-FFF2-40B4-BE49-F238E27FC236}">
                <a16:creationId xmlns:a16="http://schemas.microsoft.com/office/drawing/2014/main" id="{B01C85A5-0D7D-490A-B97F-C0E2A46A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06680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E1"/>
          </a:solidFill>
          <a:ln xmlns:a="http://schemas.openxmlformats.org/drawingml/2006/main" w="19050">
            <a:solidFill>
              <a:srgbClr val="B44536"/>
            </a:solidFill>
            <a:prstDash val="solid"/>
          </a:ln>
        </p:spPr>
      </p:sp>
      <p:sp>
        <p:nvSpPr>
          <p:cNvPr id="8" name="m-label-2">
            <a:extLst xmlns:a="http://schemas.openxmlformats.org/drawingml/2006/main">
              <a:ext uri="{FF2B5EF4-FFF2-40B4-BE49-F238E27FC236}">
                <a16:creationId xmlns:a16="http://schemas.microsoft.com/office/drawing/2014/main" id="{F8B46536-B58E-4FD2-A2A5-5ECCA564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外层：不可补偿且高置信</a:t>
            </a:r>
          </a:p>
        </p:txBody>
      </p:sp>
      <p:sp>
        <p:nvSpPr>
          <p:cNvPr id="9" name="formula-2">
            <a:extLst xmlns:a="http://schemas.openxmlformats.org/drawingml/2006/main">
              <a:ext uri="{FF2B5EF4-FFF2-40B4-BE49-F238E27FC236}">
                <a16:creationId xmlns:a16="http://schemas.microsoft.com/office/drawing/2014/main" id="{90C1F572-9FEF-46BA-AD50-85C0647F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956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418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>
                <a:solidFill>
                  <a:srgbClr val="111418"/>
                </a:solidFill>
                <a:latin typeface="Cambria Math"/>
                <a:ea typeface="Cambria Math"/>
                <a:cs typeface="Cambria Math"/>
              </a:rPr>
              <a:t>100 × ∏(M_base) × ∏(M_scene)</a:t>
            </a:r>
          </a:p>
        </p:txBody>
      </p:sp>
      <p:sp>
        <p:nvSpPr>
          <p:cNvPr id="10" name="times-2">
            <a:extLst xmlns:a="http://schemas.openxmlformats.org/drawingml/2006/main">
              <a:ext uri="{FF2B5EF4-FFF2-40B4-BE49-F238E27FC236}">
                <a16:creationId xmlns:a16="http://schemas.microsoft.com/office/drawing/2014/main" id="{0C617411-5F62-4E5A-A424-A5E79CAF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718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1" name="inner-2">
            <a:extLst xmlns:a="http://schemas.openxmlformats.org/drawingml/2006/main">
              <a:ext uri="{FF2B5EF4-FFF2-40B4-BE49-F238E27FC236}">
                <a16:creationId xmlns:a16="http://schemas.microsoft.com/office/drawing/2014/main" id="{058E614B-39B1-4771-B698-696D2E19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19375"/>
            <a:ext cx="49053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2" name="inner-label-2">
            <a:extLst xmlns:a="http://schemas.openxmlformats.org/drawingml/2006/main">
              <a:ext uri="{FF2B5EF4-FFF2-40B4-BE49-F238E27FC236}">
                <a16:creationId xmlns:a16="http://schemas.microsoft.com/office/drawing/2014/main" id="{1F981695-2672-4760-AA48-3F7A6C31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813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内层：允许补偿的性能</a:t>
            </a:r>
          </a:p>
        </p:txBody>
      </p:sp>
      <p:sp>
        <p:nvSpPr>
          <p:cNvPr id="13" name="inner-formula-2">
            <a:extLst xmlns:a="http://schemas.openxmlformats.org/drawingml/2006/main">
              <a:ext uri="{FF2B5EF4-FFF2-40B4-BE49-F238E27FC236}">
                <a16:creationId xmlns:a16="http://schemas.microsoft.com/office/drawing/2014/main" id="{52C04D04-5669-4EC6-B130-3677260B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718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>
                <a:solidFill>
                  <a:srgbClr val="111418"/>
                </a:solidFill>
                <a:latin typeface="Cambria Math"/>
                <a:ea typeface="Cambria Math"/>
                <a:cs typeface="Cambria Math"/>
              </a:rPr>
              <a:t>λ·A_base + (1−λ)·A_scene</a:t>
            </a:r>
          </a:p>
        </p:txBody>
      </p:sp>
      <p:sp>
        <p:nvSpPr>
          <p:cNvPr id="14" name="rule-box-2-0">
            <a:extLst xmlns:a="http://schemas.openxmlformats.org/drawingml/2006/main">
              <a:ext uri="{FF2B5EF4-FFF2-40B4-BE49-F238E27FC236}">
                <a16:creationId xmlns:a16="http://schemas.microsoft.com/office/drawing/2014/main" id="{6D117798-DDBB-4B99-A5AF-3CCEB778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ule-num-2-0">
            <a:extLst xmlns:a="http://schemas.openxmlformats.org/drawingml/2006/main">
              <a:ext uri="{FF2B5EF4-FFF2-40B4-BE49-F238E27FC236}">
                <a16:creationId xmlns:a16="http://schemas.microsoft.com/office/drawing/2014/main" id="{E2520268-CF79-47DB-BFB3-B9948640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rule-2-0">
            <a:extLst xmlns:a="http://schemas.openxmlformats.org/drawingml/2006/main">
              <a:ext uri="{FF2B5EF4-FFF2-40B4-BE49-F238E27FC236}">
                <a16:creationId xmlns:a16="http://schemas.microsoft.com/office/drawing/2014/main" id="{E3E527BB-E0F7-49C7-AB2D-319714BB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M ∈ {0, 0.5, 1}</a:t>
            </a:r>
          </a:p>
        </p:txBody>
      </p:sp>
      <p:sp>
        <p:nvSpPr>
          <p:cNvPr id="17" name="rule-box-2-1">
            <a:extLst xmlns:a="http://schemas.openxmlformats.org/drawingml/2006/main">
              <a:ext uri="{FF2B5EF4-FFF2-40B4-BE49-F238E27FC236}">
                <a16:creationId xmlns:a16="http://schemas.microsoft.com/office/drawing/2014/main" id="{FDC88166-23FC-4E95-8FCA-A0B0F15B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62500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ule-num-2-1">
            <a:extLst xmlns:a="http://schemas.openxmlformats.org/drawingml/2006/main">
              <a:ext uri="{FF2B5EF4-FFF2-40B4-BE49-F238E27FC236}">
                <a16:creationId xmlns:a16="http://schemas.microsoft.com/office/drawing/2014/main" id="{300E53E8-ED6C-489E-AE9F-917DDE06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434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rule-2-1">
            <a:extLst xmlns:a="http://schemas.openxmlformats.org/drawingml/2006/main">
              <a:ext uri="{FF2B5EF4-FFF2-40B4-BE49-F238E27FC236}">
                <a16:creationId xmlns:a16="http://schemas.microsoft.com/office/drawing/2014/main" id="{14A3E2CA-E5C5-498A-9DCF-304FB93C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958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同一缺陷不得重复计罚</a:t>
            </a:r>
          </a:p>
        </p:txBody>
      </p:sp>
      <p:sp>
        <p:nvSpPr>
          <p:cNvPr id="20" name="rule-box-2-2">
            <a:extLst xmlns:a="http://schemas.openxmlformats.org/drawingml/2006/main">
              <a:ext uri="{FF2B5EF4-FFF2-40B4-BE49-F238E27FC236}">
                <a16:creationId xmlns:a16="http://schemas.microsoft.com/office/drawing/2014/main" id="{6167AB49-3D2A-43AE-9A14-F3E35DD0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62500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ule-num-2-2">
            <a:extLst xmlns:a="http://schemas.openxmlformats.org/drawingml/2006/main">
              <a:ext uri="{FF2B5EF4-FFF2-40B4-BE49-F238E27FC236}">
                <a16:creationId xmlns:a16="http://schemas.microsoft.com/office/drawing/2014/main" id="{FD740DEA-1034-4AE1-9CC1-E32041FA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434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rule-2-2">
            <a:extLst xmlns:a="http://schemas.openxmlformats.org/drawingml/2006/main">
              <a:ext uri="{FF2B5EF4-FFF2-40B4-BE49-F238E27FC236}">
                <a16:creationId xmlns:a16="http://schemas.microsoft.com/office/drawing/2014/main" id="{00FD85AD-1A12-415A-BBA9-DD5BC135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958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ERROR 不进入公式</a:t>
            </a:r>
          </a:p>
        </p:txBody>
      </p:sp>
      <p:sp>
        <p:nvSpPr>
          <p:cNvPr id="23" name="lambda-2">
            <a:extLst xmlns:a="http://schemas.openxmlformats.org/drawingml/2006/main">
              <a:ext uri="{FF2B5EF4-FFF2-40B4-BE49-F238E27FC236}">
                <a16:creationId xmlns:a16="http://schemas.microsoft.com/office/drawing/2014/main" id="{A4D6ED62-A7E4-4854-AF4B-5060DDE2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150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λ v1：文字 0.55 · 总结 0.40 · 多模态 0.45；待人工金标校准</a:t>
            </a:r>
          </a:p>
        </p:txBody>
      </p:sp>
    </p:spTree>
    <p:extLst>
      <p:ext uri="{BB962C8B-B14F-4D97-AF65-F5344CB8AC3E}">
        <p14:creationId xmlns:p14="http://schemas.microsoft.com/office/powerpoint/2010/main" val="270692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hapter-3">
            <a:extLst xmlns:a="http://schemas.openxmlformats.org/drawingml/2006/main">
              <a:ext uri="{FF2B5EF4-FFF2-40B4-BE49-F238E27FC236}">
                <a16:creationId xmlns:a16="http://schemas.microsoft.com/office/drawing/2014/main" id="{C97D4CF5-9DFD-406D-A779-34FDA4A6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开发 / 01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32CDD27-7820-4437-B40F-738E36F2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确定性总控不需要知道指标怎么打分</a:t>
            </a:r>
          </a:p>
        </p:txBody>
      </p:sp>
      <p:sp>
        <p:nvSpPr>
          <p:cNvPr id="3" name="number-3">
            <a:extLst xmlns:a="http://schemas.openxmlformats.org/drawingml/2006/main">
              <a:ext uri="{FF2B5EF4-FFF2-40B4-BE49-F238E27FC236}">
                <a16:creationId xmlns:a16="http://schemas.microsoft.com/office/drawing/2014/main" id="{168160B9-1780-476A-8CDF-278AF3C6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0EA456C3-1CD3-451E-A13B-148945E7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A6B18D2A-EB47-4BAB-9DFD-7E09A934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3">
            <a:extLst xmlns:a="http://schemas.openxmlformats.org/drawingml/2006/main">
              <a:ext uri="{FF2B5EF4-FFF2-40B4-BE49-F238E27FC236}">
                <a16:creationId xmlns:a16="http://schemas.microsoft.com/office/drawing/2014/main" id="{7B2CFB77-338F-4E2F-9226-BAE098DC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Supervisor 只调度节点、预算和状态，判断封装在 Oracle。</a:t>
            </a:r>
          </a:p>
        </p:txBody>
      </p:sp>
      <p:sp>
        <p:nvSpPr>
          <p:cNvPr id="7" name="layer-3-0">
            <a:extLst xmlns:a="http://schemas.openxmlformats.org/drawingml/2006/main">
              <a:ext uri="{FF2B5EF4-FFF2-40B4-BE49-F238E27FC236}">
                <a16:creationId xmlns:a16="http://schemas.microsoft.com/office/drawing/2014/main" id="{E2C75A5B-45F4-4818-A4E2-9F6EC93B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8" name="layer-text-3-0">
            <a:extLst xmlns:a="http://schemas.openxmlformats.org/drawingml/2006/main">
              <a:ext uri="{FF2B5EF4-FFF2-40B4-BE49-F238E27FC236}">
                <a16:creationId xmlns:a16="http://schemas.microsoft.com/office/drawing/2014/main" id="{7C83F16D-C4C3-4B20-8979-C9295631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76475"/>
            <a:ext cx="851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01  EvaluationService</a:t>
            </a:r>
          </a:p>
        </p:txBody>
      </p:sp>
      <p:sp>
        <p:nvSpPr>
          <p:cNvPr id="9" name="layer-3-1">
            <a:extLst xmlns:a="http://schemas.openxmlformats.org/drawingml/2006/main">
              <a:ext uri="{FF2B5EF4-FFF2-40B4-BE49-F238E27FC236}">
                <a16:creationId xmlns:a16="http://schemas.microsoft.com/office/drawing/2014/main" id="{DE711E0E-1A50-4A0C-BA7C-AF439A84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2415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19050">
            <a:solidFill>
              <a:srgbClr val="1677D2"/>
            </a:solidFill>
            <a:prstDash val="solid"/>
          </a:ln>
        </p:spPr>
      </p:sp>
      <p:sp>
        <p:nvSpPr>
          <p:cNvPr id="10" name="layer-text-3-1">
            <a:extLst xmlns:a="http://schemas.openxmlformats.org/drawingml/2006/main">
              <a:ext uri="{FF2B5EF4-FFF2-40B4-BE49-F238E27FC236}">
                <a16:creationId xmlns:a16="http://schemas.microsoft.com/office/drawing/2014/main" id="{1F52FF52-5112-4E5E-A223-A851DAE5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809875"/>
            <a:ext cx="765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02  RunSupervisor</a:t>
            </a:r>
          </a:p>
        </p:txBody>
      </p:sp>
      <p:sp>
        <p:nvSpPr>
          <p:cNvPr id="11" name="layer-3-2">
            <a:extLst xmlns:a="http://schemas.openxmlformats.org/drawingml/2006/main">
              <a:ext uri="{FF2B5EF4-FFF2-40B4-BE49-F238E27FC236}">
                <a16:creationId xmlns:a16="http://schemas.microsoft.com/office/drawing/2014/main" id="{E102815C-8B27-402C-8CBE-E47B3122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57550"/>
            <a:ext cx="714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2" name="layer-text-3-2">
            <a:extLst xmlns:a="http://schemas.openxmlformats.org/drawingml/2006/main">
              <a:ext uri="{FF2B5EF4-FFF2-40B4-BE49-F238E27FC236}">
                <a16:creationId xmlns:a16="http://schemas.microsoft.com/office/drawing/2014/main" id="{7A489642-5EBB-4F74-A0C1-8BF9DBB6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43275"/>
            <a:ext cx="680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03  ProfileCompiler + DagScheduler</a:t>
            </a:r>
          </a:p>
        </p:txBody>
      </p:sp>
      <p:sp>
        <p:nvSpPr>
          <p:cNvPr id="13" name="layer-3-3">
            <a:extLst xmlns:a="http://schemas.openxmlformats.org/drawingml/2006/main">
              <a:ext uri="{FF2B5EF4-FFF2-40B4-BE49-F238E27FC236}">
                <a16:creationId xmlns:a16="http://schemas.microsoft.com/office/drawing/2014/main" id="{62FA174B-6AE6-49E3-9F49-A34B39BB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9095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4" name="layer-text-3-3">
            <a:extLst xmlns:a="http://schemas.openxmlformats.org/drawingml/2006/main">
              <a:ext uri="{FF2B5EF4-FFF2-40B4-BE49-F238E27FC236}">
                <a16:creationId xmlns:a16="http://schemas.microsoft.com/office/drawing/2014/main" id="{0A186508-59EF-4154-821B-3DD295DA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876675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04  Composite / Leaf Oracle</a:t>
            </a:r>
          </a:p>
        </p:txBody>
      </p:sp>
      <p:sp>
        <p:nvSpPr>
          <p:cNvPr id="15" name="layer-3-4">
            <a:extLst xmlns:a="http://schemas.openxmlformats.org/drawingml/2006/main">
              <a:ext uri="{FF2B5EF4-FFF2-40B4-BE49-F238E27FC236}">
                <a16:creationId xmlns:a16="http://schemas.microsoft.com/office/drawing/2014/main" id="{5C72C6FB-4837-46CA-AFC4-11F1268C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24350"/>
            <a:ext cx="542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6" name="layer-text-3-4">
            <a:extLst xmlns:a="http://schemas.openxmlformats.org/drawingml/2006/main">
              <a:ext uri="{FF2B5EF4-FFF2-40B4-BE49-F238E27FC236}">
                <a16:creationId xmlns:a16="http://schemas.microsoft.com/office/drawing/2014/main" id="{4FCBB6E3-7DB6-418B-83DB-C7458C7F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10075"/>
            <a:ext cx="508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05  Calibrator + PPT-PDMS</a:t>
            </a:r>
          </a:p>
        </p:txBody>
      </p:sp>
      <p:sp>
        <p:nvSpPr>
          <p:cNvPr id="17" name="layer-3-5">
            <a:extLst xmlns:a="http://schemas.openxmlformats.org/drawingml/2006/main">
              <a:ext uri="{FF2B5EF4-FFF2-40B4-BE49-F238E27FC236}">
                <a16:creationId xmlns:a16="http://schemas.microsoft.com/office/drawing/2014/main" id="{6C81E435-6919-40E3-B992-4A890BC9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5775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8" name="layer-text-3-5">
            <a:extLst xmlns:a="http://schemas.openxmlformats.org/drawingml/2006/main">
              <a:ext uri="{FF2B5EF4-FFF2-40B4-BE49-F238E27FC236}">
                <a16:creationId xmlns:a16="http://schemas.microsoft.com/office/drawing/2014/main" id="{B0831CD0-75B5-4AAB-A2B3-5E6FAD23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943475"/>
            <a:ext cx="422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06  DecisionPolicy</a:t>
            </a:r>
          </a:p>
        </p:txBody>
      </p:sp>
      <p:sp>
        <p:nvSpPr>
          <p:cNvPr id="19" name="layer-3-6">
            <a:extLst xmlns:a="http://schemas.openxmlformats.org/drawingml/2006/main">
              <a:ext uri="{FF2B5EF4-FFF2-40B4-BE49-F238E27FC236}">
                <a16:creationId xmlns:a16="http://schemas.microsoft.com/office/drawing/2014/main" id="{049E9902-517A-48F7-BC9F-CD4A30D6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9115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0" name="layer-text-3-6">
            <a:extLst xmlns:a="http://schemas.openxmlformats.org/drawingml/2006/main">
              <a:ext uri="{FF2B5EF4-FFF2-40B4-BE49-F238E27FC236}">
                <a16:creationId xmlns:a16="http://schemas.microsoft.com/office/drawing/2014/main" id="{612B5703-42CD-4034-85AD-15E1EC97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76875"/>
            <a:ext cx="3371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07  Evidence · Audit · Feedback</a:t>
            </a:r>
          </a:p>
        </p:txBody>
      </p:sp>
      <p:sp>
        <p:nvSpPr>
          <p:cNvPr id="21" name="arch-note-3">
            <a:extLst xmlns:a="http://schemas.openxmlformats.org/drawingml/2006/main">
              <a:ext uri="{FF2B5EF4-FFF2-40B4-BE49-F238E27FC236}">
                <a16:creationId xmlns:a16="http://schemas.microsoft.com/office/drawing/2014/main" id="{38823F04-ECD2-420F-989D-FC7F5717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4837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每层只完成既定工作；模型不能生成 DAG、修改规则或决定发布。</a:t>
            </a:r>
          </a:p>
        </p:txBody>
      </p:sp>
    </p:spTree>
    <p:extLst>
      <p:ext uri="{BB962C8B-B14F-4D97-AF65-F5344CB8AC3E}">
        <p14:creationId xmlns:p14="http://schemas.microsoft.com/office/powerpoint/2010/main" val="1340672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chapter-4">
            <a:extLst xmlns:a="http://schemas.openxmlformats.org/drawingml/2006/main">
              <a:ext uri="{FF2B5EF4-FFF2-40B4-BE49-F238E27FC236}">
                <a16:creationId xmlns:a16="http://schemas.microsoft.com/office/drawing/2014/main" id="{B76DE048-6BE4-4CAC-A631-28EECAA9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开发 / 02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64AF3F61-BD67-478E-B7D1-B2485013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基础质量子图是编译期不变量</a:t>
            </a:r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1CFE493C-953F-4946-8634-B76E1B05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E7DE61AE-EB17-4D28-850B-E008425E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90BF6081-E202-4B9F-81F4-4BA8A759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4">
            <a:extLst xmlns:a="http://schemas.openxmlformats.org/drawingml/2006/main">
              <a:ext uri="{FF2B5EF4-FFF2-40B4-BE49-F238E27FC236}">
                <a16:creationId xmlns:a16="http://schemas.microsoft.com/office/drawing/2014/main" id="{FD85274B-4118-4920-8447-3A07AFED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任何专项缺失或失败，都保留可解释的 S_base。</a:t>
            </a:r>
          </a:p>
        </p:txBody>
      </p:sp>
      <p:sp>
        <p:nvSpPr>
          <p:cNvPr id="7" name="fallback-node-4-0">
            <a:extLst xmlns:a="http://schemas.openxmlformats.org/drawingml/2006/main">
              <a:ext uri="{FF2B5EF4-FFF2-40B4-BE49-F238E27FC236}">
                <a16:creationId xmlns:a16="http://schemas.microsoft.com/office/drawing/2014/main" id="{2E56C503-5A84-4496-8125-0DA0D4F7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2362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19050">
            <a:solidFill>
              <a:srgbClr val="1677D2"/>
            </a:solidFill>
            <a:prstDash val="solid"/>
          </a:ln>
        </p:spPr>
      </p:sp>
      <p:sp>
        <p:nvSpPr>
          <p:cNvPr id="8" name="fallback-num-4-0">
            <a:extLst xmlns:a="http://schemas.openxmlformats.org/drawingml/2006/main">
              <a:ext uri="{FF2B5EF4-FFF2-40B4-BE49-F238E27FC236}">
                <a16:creationId xmlns:a16="http://schemas.microsoft.com/office/drawing/2014/main" id="{EB5446D4-63DA-4225-B51A-319AD446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fallback-name-4-0">
            <a:extLst xmlns:a="http://schemas.openxmlformats.org/drawingml/2006/main">
              <a:ext uri="{FF2B5EF4-FFF2-40B4-BE49-F238E27FC236}">
                <a16:creationId xmlns:a16="http://schemas.microsoft.com/office/drawing/2014/main" id="{EEE0EFC2-37C8-420E-BC8F-E9B95D94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编译</a:t>
            </a:r>
          </a:p>
        </p:txBody>
      </p:sp>
      <p:sp>
        <p:nvSpPr>
          <p:cNvPr id="10" name="fallback-desc-4-0">
            <a:extLst xmlns:a="http://schemas.openxmlformats.org/drawingml/2006/main">
              <a:ext uri="{FF2B5EF4-FFF2-40B4-BE49-F238E27FC236}">
                <a16:creationId xmlns:a16="http://schemas.microsoft.com/office/drawing/2014/main" id="{0861342B-6CD0-452B-A84C-CECA6D03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强制注入 Baseline</a:t>
            </a:r>
          </a:p>
        </p:txBody>
      </p:sp>
      <p:sp>
        <p:nvSpPr>
          <p:cNvPr id="11" name="fallback-arrow-4-0">
            <a:extLst xmlns:a="http://schemas.openxmlformats.org/drawingml/2006/main">
              <a:ext uri="{FF2B5EF4-FFF2-40B4-BE49-F238E27FC236}">
                <a16:creationId xmlns:a16="http://schemas.microsoft.com/office/drawing/2014/main" id="{DC69025A-93A6-474C-A867-E82B64CA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9900"/>
            <a:ext cx="276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fallback-node-4-1">
            <a:extLst xmlns:a="http://schemas.openxmlformats.org/drawingml/2006/main">
              <a:ext uri="{FF2B5EF4-FFF2-40B4-BE49-F238E27FC236}">
                <a16:creationId xmlns:a16="http://schemas.microsoft.com/office/drawing/2014/main" id="{5C2CCB27-D6EE-4BCD-9F20-9BE2701B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400300"/>
            <a:ext cx="2362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19050">
            <a:solidFill>
              <a:srgbClr val="111418"/>
            </a:solidFill>
            <a:prstDash val="solid"/>
          </a:ln>
        </p:spPr>
      </p:sp>
      <p:sp>
        <p:nvSpPr>
          <p:cNvPr id="13" name="fallback-num-4-1">
            <a:extLst xmlns:a="http://schemas.openxmlformats.org/drawingml/2006/main">
              <a:ext uri="{FF2B5EF4-FFF2-40B4-BE49-F238E27FC236}">
                <a16:creationId xmlns:a16="http://schemas.microsoft.com/office/drawing/2014/main" id="{6B6BEAE5-F053-47B4-A894-5C30CEB0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0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fallback-name-4-1">
            <a:extLst xmlns:a="http://schemas.openxmlformats.org/drawingml/2006/main">
              <a:ext uri="{FF2B5EF4-FFF2-40B4-BE49-F238E27FC236}">
                <a16:creationId xmlns:a16="http://schemas.microsoft.com/office/drawing/2014/main" id="{E47A19F2-3CB2-4BA5-A7DD-544C9533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5" name="fallback-desc-4-1">
            <a:extLst xmlns:a="http://schemas.openxmlformats.org/drawingml/2006/main">
              <a:ext uri="{FF2B5EF4-FFF2-40B4-BE49-F238E27FC236}">
                <a16:creationId xmlns:a16="http://schemas.microsoft.com/office/drawing/2014/main" id="{6B9102B7-C508-49AA-AE03-0A6F60C8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4575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基础与专项解耦</a:t>
            </a:r>
          </a:p>
        </p:txBody>
      </p:sp>
      <p:sp>
        <p:nvSpPr>
          <p:cNvPr id="16" name="fallback-arrow-4-1">
            <a:extLst xmlns:a="http://schemas.openxmlformats.org/drawingml/2006/main">
              <a:ext uri="{FF2B5EF4-FFF2-40B4-BE49-F238E27FC236}">
                <a16:creationId xmlns:a16="http://schemas.microsoft.com/office/drawing/2014/main" id="{2A15ECF8-96E5-4007-881B-A9CF553B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009900"/>
            <a:ext cx="276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fallback-node-4-2">
            <a:extLst xmlns:a="http://schemas.openxmlformats.org/drawingml/2006/main">
              <a:ext uri="{FF2B5EF4-FFF2-40B4-BE49-F238E27FC236}">
                <a16:creationId xmlns:a16="http://schemas.microsoft.com/office/drawing/2014/main" id="{AD36C691-B0B1-4E60-B793-1F399132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00300"/>
            <a:ext cx="2362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E1"/>
          </a:solidFill>
          <a:ln xmlns:a="http://schemas.openxmlformats.org/drawingml/2006/main" w="19050">
            <a:solidFill>
              <a:srgbClr val="B44536"/>
            </a:solidFill>
            <a:prstDash val="solid"/>
          </a:ln>
        </p:spPr>
      </p:sp>
      <p:sp>
        <p:nvSpPr>
          <p:cNvPr id="18" name="fallback-num-4-2">
            <a:extLst xmlns:a="http://schemas.openxmlformats.org/drawingml/2006/main">
              <a:ext uri="{FF2B5EF4-FFF2-40B4-BE49-F238E27FC236}">
                <a16:creationId xmlns:a16="http://schemas.microsoft.com/office/drawing/2014/main" id="{DD99F9D3-2C86-4B0D-B6B6-75155DCA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0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fallback-name-4-2">
            <a:extLst xmlns:a="http://schemas.openxmlformats.org/drawingml/2006/main">
              <a:ext uri="{FF2B5EF4-FFF2-40B4-BE49-F238E27FC236}">
                <a16:creationId xmlns:a16="http://schemas.microsoft.com/office/drawing/2014/main" id="{510746C1-759F-42EF-93CC-C1CF7D32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专项异常</a:t>
            </a:r>
          </a:p>
        </p:txBody>
      </p:sp>
      <p:sp>
        <p:nvSpPr>
          <p:cNvPr id="20" name="fallback-desc-4-2">
            <a:extLst xmlns:a="http://schemas.openxmlformats.org/drawingml/2006/main">
              <a:ext uri="{FF2B5EF4-FFF2-40B4-BE49-F238E27FC236}">
                <a16:creationId xmlns:a16="http://schemas.microsoft.com/office/drawing/2014/main" id="{4BECFA13-BBD2-4E81-BEF7-14E4CBA1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575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ERROR / 缺证据</a:t>
            </a:r>
          </a:p>
        </p:txBody>
      </p:sp>
      <p:sp>
        <p:nvSpPr>
          <p:cNvPr id="21" name="fallback-arrow-4-2">
            <a:extLst xmlns:a="http://schemas.openxmlformats.org/drawingml/2006/main">
              <a:ext uri="{FF2B5EF4-FFF2-40B4-BE49-F238E27FC236}">
                <a16:creationId xmlns:a16="http://schemas.microsoft.com/office/drawing/2014/main" id="{C2DBAFEF-54BD-429F-9032-27443B88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9900"/>
            <a:ext cx="276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fallback-node-4-3">
            <a:extLst xmlns:a="http://schemas.openxmlformats.org/drawingml/2006/main">
              <a:ext uri="{FF2B5EF4-FFF2-40B4-BE49-F238E27FC236}">
                <a16:creationId xmlns:a16="http://schemas.microsoft.com/office/drawing/2014/main" id="{87B7CB89-8B96-4AA9-984D-FC33E819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00300"/>
            <a:ext cx="2362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19050">
            <a:solidFill>
              <a:srgbClr val="087E72"/>
            </a:solidFill>
            <a:prstDash val="solid"/>
          </a:ln>
        </p:spPr>
      </p:sp>
      <p:sp>
        <p:nvSpPr>
          <p:cNvPr id="23" name="fallback-num-4-3">
            <a:extLst xmlns:a="http://schemas.openxmlformats.org/drawingml/2006/main">
              <a:ext uri="{FF2B5EF4-FFF2-40B4-BE49-F238E27FC236}">
                <a16:creationId xmlns:a16="http://schemas.microsoft.com/office/drawing/2014/main" id="{B950D9EA-19B9-487C-BE65-101A210B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098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fallback-name-4-3">
            <a:extLst xmlns:a="http://schemas.openxmlformats.org/drawingml/2006/main">
              <a:ext uri="{FF2B5EF4-FFF2-40B4-BE49-F238E27FC236}">
                <a16:creationId xmlns:a16="http://schemas.microsoft.com/office/drawing/2014/main" id="{A58F47C6-997E-4EBD-87DC-120ACA8F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收束</a:t>
            </a:r>
          </a:p>
        </p:txBody>
      </p:sp>
      <p:sp>
        <p:nvSpPr>
          <p:cNvPr id="25" name="fallback-desc-4-3">
            <a:extLst xmlns:a="http://schemas.openxmlformats.org/drawingml/2006/main">
              <a:ext uri="{FF2B5EF4-FFF2-40B4-BE49-F238E27FC236}">
                <a16:creationId xmlns:a16="http://schemas.microsoft.com/office/drawing/2014/main" id="{F7314E61-3044-495D-9B1E-CAE4134A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4575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S_base + REVIEW</a:t>
            </a:r>
          </a:p>
        </p:txBody>
      </p:sp>
      <p:sp>
        <p:nvSpPr>
          <p:cNvPr id="26" name="baseline-band-4">
            <a:extLst xmlns:a="http://schemas.openxmlformats.org/drawingml/2006/main">
              <a:ext uri="{FF2B5EF4-FFF2-40B4-BE49-F238E27FC236}">
                <a16:creationId xmlns:a16="http://schemas.microsoft.com/office/drawing/2014/main" id="{9811B8AB-914D-4195-8A8D-FC1ACA63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05060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seline-label-4">
            <a:extLst xmlns:a="http://schemas.openxmlformats.org/drawingml/2006/main">
              <a:ext uri="{FF2B5EF4-FFF2-40B4-BE49-F238E27FC236}">
                <a16:creationId xmlns:a16="http://schemas.microsoft.com/office/drawing/2014/main" id="{E937CB2A-B9CC-443E-9DAD-68C72D9C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不可删除的基础质量子图</a:t>
            </a:r>
          </a:p>
        </p:txBody>
      </p:sp>
      <p:sp>
        <p:nvSpPr>
          <p:cNvPr id="28" name="baseline-dims-4">
            <a:extLst xmlns:a="http://schemas.openxmlformats.org/drawingml/2006/main">
              <a:ext uri="{FF2B5EF4-FFF2-40B4-BE49-F238E27FC236}">
                <a16:creationId xmlns:a16="http://schemas.microsoft.com/office/drawing/2014/main" id="{22B57A90-0BAD-474D-A277-46D1AC8A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 · 叙事 · 视觉 · 技术 · 可编辑性 · 兼容性 · 可访问性</a:t>
            </a:r>
          </a:p>
        </p:txBody>
      </p:sp>
      <p:sp>
        <p:nvSpPr>
          <p:cNvPr id="29" name="fallback-state-4">
            <a:extLst xmlns:a="http://schemas.openxmlformats.org/drawingml/2006/main">
              <a:ext uri="{FF2B5EF4-FFF2-40B4-BE49-F238E27FC236}">
                <a16:creationId xmlns:a16="http://schemas.microsoft.com/office/drawing/2014/main" id="{476196E6-29CF-4710-93A4-C985EB32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0506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FULL / DEGRADED / BASE_ONLY / UNASSESSABLE</a:t>
            </a:r>
          </a:p>
        </p:txBody>
      </p:sp>
    </p:spTree>
    <p:extLst>
      <p:ext uri="{BB962C8B-B14F-4D97-AF65-F5344CB8AC3E}">
        <p14:creationId xmlns:p14="http://schemas.microsoft.com/office/powerpoint/2010/main" val="6986078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hapter-5">
            <a:extLst xmlns:a="http://schemas.openxmlformats.org/drawingml/2006/main">
              <a:ext uri="{FF2B5EF4-FFF2-40B4-BE49-F238E27FC236}">
                <a16:creationId xmlns:a16="http://schemas.microsoft.com/office/drawing/2014/main" id="{C834C3C2-A9E1-47C5-A672-16AFC526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开发 / 03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0DDE924-67DA-46FE-A767-AD091A3D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契约和审计让替换模型不改上层</a:t>
            </a:r>
          </a:p>
        </p:txBody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BDFC33B4-F7ED-4F19-B56E-884E34B0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00BF89A6-5454-4E0F-ADBB-9EE7CAD1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6CE2F6E8-8705-4CBD-AE11-9F972F3D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5">
            <a:extLst xmlns:a="http://schemas.openxmlformats.org/drawingml/2006/main">
              <a:ext uri="{FF2B5EF4-FFF2-40B4-BE49-F238E27FC236}">
                <a16:creationId xmlns:a16="http://schemas.microsoft.com/office/drawing/2014/main" id="{007FA223-1F0B-455B-AFDF-F22D9136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统一 OracleResult、版本指纹和事件流支撑回放。</a:t>
            </a:r>
          </a:p>
        </p:txBody>
      </p:sp>
      <p:sp>
        <p:nvSpPr>
          <p:cNvPr id="7" name="chain-line-5">
            <a:extLst xmlns:a="http://schemas.openxmlformats.org/drawingml/2006/main">
              <a:ext uri="{FF2B5EF4-FFF2-40B4-BE49-F238E27FC236}">
                <a16:creationId xmlns:a16="http://schemas.microsoft.com/office/drawing/2014/main" id="{12B3BC52-6F4E-41BC-B32A-120A94F4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86100"/>
            <a:ext cx="904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ain-node-5-0">
            <a:extLst xmlns:a="http://schemas.openxmlformats.org/drawingml/2006/main">
              <a:ext uri="{FF2B5EF4-FFF2-40B4-BE49-F238E27FC236}">
                <a16:creationId xmlns:a16="http://schemas.microsoft.com/office/drawing/2014/main" id="{6BF0554E-96F9-4DDD-AA82-B4C710AB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ain-id-5-0">
            <a:extLst xmlns:a="http://schemas.openxmlformats.org/drawingml/2006/main">
              <a:ext uri="{FF2B5EF4-FFF2-40B4-BE49-F238E27FC236}">
                <a16:creationId xmlns:a16="http://schemas.microsoft.com/office/drawing/2014/main" id="{CDE82AE6-CA7B-4A08-B807-78D181A0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REQ</a:t>
            </a:r>
          </a:p>
        </p:txBody>
      </p:sp>
      <p:sp>
        <p:nvSpPr>
          <p:cNvPr id="10" name="chain-caption-5-0">
            <a:extLst xmlns:a="http://schemas.openxmlformats.org/drawingml/2006/main">
              <a:ext uri="{FF2B5EF4-FFF2-40B4-BE49-F238E27FC236}">
                <a16:creationId xmlns:a16="http://schemas.microsoft.com/office/drawing/2014/main" id="{2F716A70-2486-41CB-AFAF-A668B598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433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11" name="chain-node-5-1">
            <a:extLst xmlns:a="http://schemas.openxmlformats.org/drawingml/2006/main">
              <a:ext uri="{FF2B5EF4-FFF2-40B4-BE49-F238E27FC236}">
                <a16:creationId xmlns:a16="http://schemas.microsoft.com/office/drawing/2014/main" id="{E956F4DA-9F9E-4B09-9E99-12237CED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670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ain-id-5-1">
            <a:extLst xmlns:a="http://schemas.openxmlformats.org/drawingml/2006/main">
              <a:ext uri="{FF2B5EF4-FFF2-40B4-BE49-F238E27FC236}">
                <a16:creationId xmlns:a16="http://schemas.microsoft.com/office/drawing/2014/main" id="{115A6E16-00FA-4F51-A72E-D3A1B57E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71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ADR</a:t>
            </a:r>
          </a:p>
        </p:txBody>
      </p:sp>
      <p:sp>
        <p:nvSpPr>
          <p:cNvPr id="13" name="chain-caption-5-1">
            <a:extLst xmlns:a="http://schemas.openxmlformats.org/drawingml/2006/main">
              <a:ext uri="{FF2B5EF4-FFF2-40B4-BE49-F238E27FC236}">
                <a16:creationId xmlns:a16="http://schemas.microsoft.com/office/drawing/2014/main" id="{3AFF24C5-2472-4E9E-903D-D84B0A8B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433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取舍</a:t>
            </a:r>
          </a:p>
        </p:txBody>
      </p:sp>
      <p:sp>
        <p:nvSpPr>
          <p:cNvPr id="14" name="chain-node-5-2">
            <a:extLst xmlns:a="http://schemas.openxmlformats.org/drawingml/2006/main">
              <a:ext uri="{FF2B5EF4-FFF2-40B4-BE49-F238E27FC236}">
                <a16:creationId xmlns:a16="http://schemas.microsoft.com/office/drawing/2014/main" id="{BFC2A168-6BD5-4AE7-BE03-6E77F6DE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670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ain-id-5-2">
            <a:extLst xmlns:a="http://schemas.openxmlformats.org/drawingml/2006/main">
              <a:ext uri="{FF2B5EF4-FFF2-40B4-BE49-F238E27FC236}">
                <a16:creationId xmlns:a16="http://schemas.microsoft.com/office/drawing/2014/main" id="{A3516C82-97C0-4052-AC3E-F1651D0F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71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ORC+IMP</a:t>
            </a:r>
          </a:p>
        </p:txBody>
      </p:sp>
      <p:sp>
        <p:nvSpPr>
          <p:cNvPr id="16" name="chain-caption-5-2">
            <a:extLst xmlns:a="http://schemas.openxmlformats.org/drawingml/2006/main">
              <a:ext uri="{FF2B5EF4-FFF2-40B4-BE49-F238E27FC236}">
                <a16:creationId xmlns:a16="http://schemas.microsoft.com/office/drawing/2014/main" id="{883DD60C-04FE-4BEC-A44D-19BD12F5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433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判断/实现</a:t>
            </a:r>
          </a:p>
        </p:txBody>
      </p:sp>
      <p:sp>
        <p:nvSpPr>
          <p:cNvPr id="17" name="chain-node-5-3">
            <a:extLst xmlns:a="http://schemas.openxmlformats.org/drawingml/2006/main">
              <a:ext uri="{FF2B5EF4-FFF2-40B4-BE49-F238E27FC236}">
                <a16:creationId xmlns:a16="http://schemas.microsoft.com/office/drawing/2014/main" id="{CEB59A7C-C3F9-4BFA-BF86-BF55906E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ain-id-5-3">
            <a:extLst xmlns:a="http://schemas.openxmlformats.org/drawingml/2006/main">
              <a:ext uri="{FF2B5EF4-FFF2-40B4-BE49-F238E27FC236}">
                <a16:creationId xmlns:a16="http://schemas.microsoft.com/office/drawing/2014/main" id="{ABF40ED8-566A-458A-BD7A-3A9C6153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71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TST</a:t>
            </a:r>
          </a:p>
        </p:txBody>
      </p:sp>
      <p:sp>
        <p:nvSpPr>
          <p:cNvPr id="19" name="chain-caption-5-3">
            <a:extLst xmlns:a="http://schemas.openxmlformats.org/drawingml/2006/main">
              <a:ext uri="{FF2B5EF4-FFF2-40B4-BE49-F238E27FC236}">
                <a16:creationId xmlns:a16="http://schemas.microsoft.com/office/drawing/2014/main" id="{0D4BBDB2-0D59-4CD5-997D-D44E44E1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0" name="chain-node-5-4">
            <a:extLst xmlns:a="http://schemas.openxmlformats.org/drawingml/2006/main">
              <a:ext uri="{FF2B5EF4-FFF2-40B4-BE49-F238E27FC236}">
                <a16:creationId xmlns:a16="http://schemas.microsoft.com/office/drawing/2014/main" id="{9745C884-1E14-4B6C-BD52-75CB2A09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ain-id-5-4">
            <a:extLst xmlns:a="http://schemas.openxmlformats.org/drawingml/2006/main">
              <a:ext uri="{FF2B5EF4-FFF2-40B4-BE49-F238E27FC236}">
                <a16:creationId xmlns:a16="http://schemas.microsoft.com/office/drawing/2014/main" id="{FBD556A5-1855-472A-A6C2-39425BEE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71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EXP+RUN</a:t>
            </a:r>
          </a:p>
        </p:txBody>
      </p:sp>
      <p:sp>
        <p:nvSpPr>
          <p:cNvPr id="22" name="chain-caption-5-4">
            <a:extLst xmlns:a="http://schemas.openxmlformats.org/drawingml/2006/main">
              <a:ext uri="{FF2B5EF4-FFF2-40B4-BE49-F238E27FC236}">
                <a16:creationId xmlns:a16="http://schemas.microsoft.com/office/drawing/2014/main" id="{637DB0C4-4933-4EA7-B3A8-5A305096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433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实验/运行</a:t>
            </a:r>
          </a:p>
        </p:txBody>
      </p:sp>
      <p:sp>
        <p:nvSpPr>
          <p:cNvPr id="23" name="chain-node-5-5">
            <a:extLst xmlns:a="http://schemas.openxmlformats.org/drawingml/2006/main">
              <a:ext uri="{FF2B5EF4-FFF2-40B4-BE49-F238E27FC236}">
                <a16:creationId xmlns:a16="http://schemas.microsoft.com/office/drawing/2014/main" id="{C678B23F-A087-4372-B530-BCD88816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hain-id-5-5">
            <a:extLst xmlns:a="http://schemas.openxmlformats.org/drawingml/2006/main">
              <a:ext uri="{FF2B5EF4-FFF2-40B4-BE49-F238E27FC236}">
                <a16:creationId xmlns:a16="http://schemas.microsoft.com/office/drawing/2014/main" id="{64CBD581-4828-4A9E-B590-383BF152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71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REL</a:t>
            </a:r>
          </a:p>
        </p:txBody>
      </p:sp>
      <p:sp>
        <p:nvSpPr>
          <p:cNvPr id="25" name="chain-caption-5-5">
            <a:extLst xmlns:a="http://schemas.openxmlformats.org/drawingml/2006/main">
              <a:ext uri="{FF2B5EF4-FFF2-40B4-BE49-F238E27FC236}">
                <a16:creationId xmlns:a16="http://schemas.microsoft.com/office/drawing/2014/main" id="{BB3579AD-4B1A-47D4-9591-E83AA2B3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433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26" name="manifest-5-0">
            <a:extLst xmlns:a="http://schemas.openxmlformats.org/drawingml/2006/main">
              <a:ext uri="{FF2B5EF4-FFF2-40B4-BE49-F238E27FC236}">
                <a16:creationId xmlns:a16="http://schemas.microsoft.com/office/drawing/2014/main" id="{AC76E734-ED3A-43FF-AFF9-7CC458C5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6725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• input/output hash</a:t>
            </a:r>
          </a:p>
        </p:txBody>
      </p:sp>
      <p:sp>
        <p:nvSpPr>
          <p:cNvPr id="27" name="manifest-5-1">
            <a:extLst xmlns:a="http://schemas.openxmlformats.org/drawingml/2006/main">
              <a:ext uri="{FF2B5EF4-FFF2-40B4-BE49-F238E27FC236}">
                <a16:creationId xmlns:a16="http://schemas.microsoft.com/office/drawing/2014/main" id="{AB53ECAF-786D-4263-B105-3D678095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• Git · container · fonts</a:t>
            </a:r>
          </a:p>
        </p:txBody>
      </p:sp>
      <p:sp>
        <p:nvSpPr>
          <p:cNvPr id="28" name="manifest-5-2">
            <a:extLst xmlns:a="http://schemas.openxmlformats.org/drawingml/2006/main">
              <a:ext uri="{FF2B5EF4-FFF2-40B4-BE49-F238E27FC236}">
                <a16:creationId xmlns:a16="http://schemas.microsoft.com/office/drawing/2014/main" id="{A1ED3FD9-B4E3-4652-AD11-A60C5126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2445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• model · prompt · profile</a:t>
            </a:r>
          </a:p>
        </p:txBody>
      </p:sp>
      <p:sp>
        <p:nvSpPr>
          <p:cNvPr id="29" name="manifest-5-3">
            <a:extLst xmlns:a="http://schemas.openxmlformats.org/drawingml/2006/main">
              <a:ext uri="{FF2B5EF4-FFF2-40B4-BE49-F238E27FC236}">
                <a16:creationId xmlns:a16="http://schemas.microsoft.com/office/drawing/2014/main" id="{9C2B97A3-945E-4BDF-9F3D-B7AED634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2445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• seed · cost · DAG</a:t>
            </a:r>
          </a:p>
        </p:txBody>
      </p:sp>
      <p:sp>
        <p:nvSpPr>
          <p:cNvPr id="30" name="append-only-5">
            <a:extLst xmlns:a="http://schemas.openxmlformats.org/drawingml/2006/main">
              <a:ext uri="{FF2B5EF4-FFF2-40B4-BE49-F238E27FC236}">
                <a16:creationId xmlns:a16="http://schemas.microsoft.com/office/drawing/2014/main" id="{2E6EED2C-11BF-4E5A-9F6C-5D97A8C5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977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机器结果与人工复核分别追加；修订用 supersedes，不覆盖历史。</a:t>
            </a:r>
          </a:p>
        </p:txBody>
      </p:sp>
    </p:spTree>
    <p:extLst>
      <p:ext uri="{BB962C8B-B14F-4D97-AF65-F5344CB8AC3E}">
        <p14:creationId xmlns:p14="http://schemas.microsoft.com/office/powerpoint/2010/main" val="12521539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hapter-6">
            <a:extLst xmlns:a="http://schemas.openxmlformats.org/drawingml/2006/main">
              <a:ext uri="{FF2B5EF4-FFF2-40B4-BE49-F238E27FC236}">
                <a16:creationId xmlns:a16="http://schemas.microsoft.com/office/drawing/2014/main" id="{167C5E8A-136F-4AF3-9DE0-B6487445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评测 / 01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A50A537-027E-4F6B-9478-20BC83F5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评测系统也必须被评测</a:t>
            </a:r>
          </a:p>
        </p:txBody>
      </p:sp>
      <p:sp>
        <p:nvSpPr>
          <p:cNvPr id="3" name="number-6">
            <a:extLst xmlns:a="http://schemas.openxmlformats.org/drawingml/2006/main">
              <a:ext uri="{FF2B5EF4-FFF2-40B4-BE49-F238E27FC236}">
                <a16:creationId xmlns:a16="http://schemas.microsoft.com/office/drawing/2014/main" id="{D34C3D21-AEB4-4294-A28D-6F82597C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C6906243-DB3E-4796-86F7-0D4AB6BB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858BA516-D179-4488-9251-46ACCD95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phase-band-6">
            <a:extLst xmlns:a="http://schemas.openxmlformats.org/drawingml/2006/main">
              <a:ext uri="{FF2B5EF4-FFF2-40B4-BE49-F238E27FC236}">
                <a16:creationId xmlns:a16="http://schemas.microsoft.com/office/drawing/2014/main" id="{E737ED29-5594-47F9-A093-99EC351B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428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aim-6">
            <a:extLst xmlns:a="http://schemas.openxmlformats.org/drawingml/2006/main">
              <a:ext uri="{FF2B5EF4-FFF2-40B4-BE49-F238E27FC236}">
                <a16:creationId xmlns:a16="http://schemas.microsoft.com/office/drawing/2014/main" id="{8B624DF1-8C10-485E-8442-50EDB594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52600"/>
            <a:ext cx="9620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组件正确不等于 Judge 可信，必须加入人工元评测。</a:t>
            </a:r>
          </a:p>
        </p:txBody>
      </p:sp>
      <p:sp>
        <p:nvSpPr>
          <p:cNvPr id="8" name="phase-mark-6">
            <a:extLst xmlns:a="http://schemas.openxmlformats.org/drawingml/2006/main">
              <a:ext uri="{FF2B5EF4-FFF2-40B4-BE49-F238E27FC236}">
                <a16:creationId xmlns:a16="http://schemas.microsoft.com/office/drawing/2014/main" id="{0FD69575-2C40-44C7-8206-B79F4FAD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76600"/>
            <a:ext cx="180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9" name="point-panel-6">
            <a:extLst xmlns:a="http://schemas.openxmlformats.org/drawingml/2006/main">
              <a:ext uri="{FF2B5EF4-FFF2-40B4-BE49-F238E27FC236}">
                <a16:creationId xmlns:a16="http://schemas.microsoft.com/office/drawing/2014/main" id="{F1B049A1-F01B-44D0-BE24-05FF4032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19625"/>
            <a:ext cx="10191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oint-num-6-0">
            <a:extLst xmlns:a="http://schemas.openxmlformats.org/drawingml/2006/main">
              <a:ext uri="{FF2B5EF4-FFF2-40B4-BE49-F238E27FC236}">
                <a16:creationId xmlns:a16="http://schemas.microsoft.com/office/drawing/2014/main" id="{CCFE4DE0-0004-4488-BE7C-D01179D7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57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point-6-0">
            <a:extLst xmlns:a="http://schemas.openxmlformats.org/drawingml/2006/main">
              <a:ext uri="{FF2B5EF4-FFF2-40B4-BE49-F238E27FC236}">
                <a16:creationId xmlns:a16="http://schemas.microsoft.com/office/drawing/2014/main" id="{40F01BE6-C052-4559-BE6A-B29FBB80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006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α/ICC 与排序相关</a:t>
            </a:r>
          </a:p>
        </p:txBody>
      </p:sp>
      <p:sp>
        <p:nvSpPr>
          <p:cNvPr id="12" name="point-num-6-1">
            <a:extLst xmlns:a="http://schemas.openxmlformats.org/drawingml/2006/main">
              <a:ext uri="{FF2B5EF4-FFF2-40B4-BE49-F238E27FC236}">
                <a16:creationId xmlns:a16="http://schemas.microsoft.com/office/drawing/2014/main" id="{8F8469E8-6924-4041-A595-4BD5B6A3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57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point-6-1">
            <a:extLst xmlns:a="http://schemas.openxmlformats.org/drawingml/2006/main">
              <a:ext uri="{FF2B5EF4-FFF2-40B4-BE49-F238E27FC236}">
                <a16:creationId xmlns:a16="http://schemas.microsoft.com/office/drawing/2014/main" id="{03220B2C-44EF-4C80-A0C4-99B6C077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006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Brier/ECE 校准</a:t>
            </a:r>
          </a:p>
        </p:txBody>
      </p:sp>
      <p:sp>
        <p:nvSpPr>
          <p:cNvPr id="14" name="point-num-6-2">
            <a:extLst xmlns:a="http://schemas.openxmlformats.org/drawingml/2006/main">
              <a:ext uri="{FF2B5EF4-FFF2-40B4-BE49-F238E27FC236}">
                <a16:creationId xmlns:a16="http://schemas.microsoft.com/office/drawing/2014/main" id="{1E6D959F-F0DF-4CDF-A782-E2D9BCF0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point-6-2">
            <a:extLst xmlns:a="http://schemas.openxmlformats.org/drawingml/2006/main">
              <a:ext uri="{FF2B5EF4-FFF2-40B4-BE49-F238E27FC236}">
                <a16:creationId xmlns:a16="http://schemas.microsoft.com/office/drawing/2014/main" id="{4123FCF9-8752-46C1-8C1A-3D6AB2D8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006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定位 F1 与重复稳定性</a:t>
            </a:r>
          </a:p>
        </p:txBody>
      </p:sp>
      <p:sp>
        <p:nvSpPr>
          <p:cNvPr id="16" name="planned-label-6">
            <a:extLst xmlns:a="http://schemas.openxmlformats.org/drawingml/2006/main">
              <a:ext uri="{FF2B5EF4-FFF2-40B4-BE49-F238E27FC236}">
                <a16:creationId xmlns:a16="http://schemas.microsoft.com/office/drawing/2014/main" id="{17CFA502-6435-4405-92D5-5DFDCEEA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811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门槛状态：预注册，尚非实测</a:t>
            </a:r>
          </a:p>
        </p:txBody>
      </p:sp>
    </p:spTree>
    <p:extLst>
      <p:ext uri="{BB962C8B-B14F-4D97-AF65-F5344CB8AC3E}">
        <p14:creationId xmlns:p14="http://schemas.microsoft.com/office/powerpoint/2010/main" val="17617446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chapter-7">
            <a:extLst xmlns:a="http://schemas.openxmlformats.org/drawingml/2006/main">
              <a:ext uri="{FF2B5EF4-FFF2-40B4-BE49-F238E27FC236}">
                <a16:creationId xmlns:a16="http://schemas.microsoft.com/office/drawing/2014/main" id="{3A6B69C8-EE42-4920-8DD8-5424D28F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评测 / 02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0983447-0E17-4839-8660-DFAEB289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42项测试验证兜底和评分边界</a:t>
            </a:r>
          </a:p>
        </p:txBody>
      </p:sp>
      <p:sp>
        <p:nvSpPr>
          <p:cNvPr id="3" name="number-7">
            <a:extLst xmlns:a="http://schemas.openxmlformats.org/drawingml/2006/main">
              <a:ext uri="{FF2B5EF4-FFF2-40B4-BE49-F238E27FC236}">
                <a16:creationId xmlns:a16="http://schemas.microsoft.com/office/drawing/2014/main" id="{8AE35DE7-443C-40AE-A516-F82C5BD0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5BB98A25-1A62-4038-8759-8508F3EF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5035D2B2-0EB1-4682-99BA-D3FEF2F5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7">
            <a:extLst xmlns:a="http://schemas.openxmlformats.org/drawingml/2006/main">
              <a:ext uri="{FF2B5EF4-FFF2-40B4-BE49-F238E27FC236}">
                <a16:creationId xmlns:a16="http://schemas.microsoft.com/office/drawing/2014/main" id="{69B41D99-77C4-44E3-AC6A-C65C95E9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四场景 Smoke 证明专项故障不会吞掉本体报告或伪造完整分。</a:t>
            </a:r>
          </a:p>
        </p:txBody>
      </p:sp>
      <p:sp>
        <p:nvSpPr>
          <p:cNvPr id="7" name="deg-head-7-0">
            <a:extLst xmlns:a="http://schemas.openxmlformats.org/drawingml/2006/main">
              <a:ext uri="{FF2B5EF4-FFF2-40B4-BE49-F238E27FC236}">
                <a16:creationId xmlns:a16="http://schemas.microsoft.com/office/drawing/2014/main" id="{960551EC-7B8C-44AC-9D92-DB4E8757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g-head-text-7-0">
            <a:extLst xmlns:a="http://schemas.openxmlformats.org/drawingml/2006/main">
              <a:ext uri="{FF2B5EF4-FFF2-40B4-BE49-F238E27FC236}">
                <a16:creationId xmlns:a16="http://schemas.microsoft.com/office/drawing/2014/main" id="{2F6A5BC6-272B-404C-980F-31E20405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9" name="deg-head-7-1">
            <a:extLst xmlns:a="http://schemas.openxmlformats.org/drawingml/2006/main">
              <a:ext uri="{FF2B5EF4-FFF2-40B4-BE49-F238E27FC236}">
                <a16:creationId xmlns:a16="http://schemas.microsoft.com/office/drawing/2014/main" id="{031E8FB1-0941-4891-B4C8-BFA9C75B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g-head-text-7-1">
            <a:extLst xmlns:a="http://schemas.openxmlformats.org/drawingml/2006/main">
              <a:ext uri="{FF2B5EF4-FFF2-40B4-BE49-F238E27FC236}">
                <a16:creationId xmlns:a16="http://schemas.microsoft.com/office/drawing/2014/main" id="{C99F128A-535E-4201-98E1-C8D99943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33650"/>
            <a:ext cx="1962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专项成功</a:t>
            </a:r>
          </a:p>
        </p:txBody>
      </p:sp>
      <p:sp>
        <p:nvSpPr>
          <p:cNvPr id="11" name="deg-head-7-2">
            <a:extLst xmlns:a="http://schemas.openxmlformats.org/drawingml/2006/main">
              <a:ext uri="{FF2B5EF4-FFF2-40B4-BE49-F238E27FC236}">
                <a16:creationId xmlns:a16="http://schemas.microsoft.com/office/drawing/2014/main" id="{948F8636-585F-4E03-A191-44CB8A46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622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g-head-text-7-2">
            <a:extLst xmlns:a="http://schemas.openxmlformats.org/drawingml/2006/main">
              <a:ext uri="{FF2B5EF4-FFF2-40B4-BE49-F238E27FC236}">
                <a16:creationId xmlns:a16="http://schemas.microsoft.com/office/drawing/2014/main" id="{5691D573-2A0E-4743-B061-1C3AACE1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专项部分错误</a:t>
            </a:r>
          </a:p>
        </p:txBody>
      </p:sp>
      <p:sp>
        <p:nvSpPr>
          <p:cNvPr id="13" name="deg-head-7-3">
            <a:extLst xmlns:a="http://schemas.openxmlformats.org/drawingml/2006/main">
              <a:ext uri="{FF2B5EF4-FFF2-40B4-BE49-F238E27FC236}">
                <a16:creationId xmlns:a16="http://schemas.microsoft.com/office/drawing/2014/main" id="{8503EAAA-C718-4964-928D-ABD63D2B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g-head-text-7-3">
            <a:extLst xmlns:a="http://schemas.openxmlformats.org/drawingml/2006/main">
              <a:ext uri="{FF2B5EF4-FFF2-40B4-BE49-F238E27FC236}">
                <a16:creationId xmlns:a16="http://schemas.microsoft.com/office/drawing/2014/main" id="{0CE98F06-CB20-49FB-9CD2-760A47DA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33650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专项缺失/全错</a:t>
            </a:r>
          </a:p>
        </p:txBody>
      </p:sp>
      <p:sp>
        <p:nvSpPr>
          <p:cNvPr id="15" name="deg-cell-7-0-0">
            <a:extLst xmlns:a="http://schemas.openxmlformats.org/drawingml/2006/main">
              <a:ext uri="{FF2B5EF4-FFF2-40B4-BE49-F238E27FC236}">
                <a16:creationId xmlns:a16="http://schemas.microsoft.com/office/drawing/2014/main" id="{718DE2E5-CC93-431B-ACE8-5C28E57D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6" name="deg-cell-text-7-0-0">
            <a:extLst xmlns:a="http://schemas.openxmlformats.org/drawingml/2006/main">
              <a:ext uri="{FF2B5EF4-FFF2-40B4-BE49-F238E27FC236}">
                <a16:creationId xmlns:a16="http://schemas.microsoft.com/office/drawing/2014/main" id="{67E4AE49-E4CD-4D8A-9A2C-1DEB895B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146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文字生成</a:t>
            </a:r>
          </a:p>
        </p:txBody>
      </p:sp>
      <p:sp>
        <p:nvSpPr>
          <p:cNvPr id="17" name="deg-cell-7-0-1">
            <a:extLst xmlns:a="http://schemas.openxmlformats.org/drawingml/2006/main">
              <a:ext uri="{FF2B5EF4-FFF2-40B4-BE49-F238E27FC236}">
                <a16:creationId xmlns:a16="http://schemas.microsoft.com/office/drawing/2014/main" id="{866A622E-EE73-492C-AC62-E78330FE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8" name="deg-cell-text-7-0-1">
            <a:extLst xmlns:a="http://schemas.openxmlformats.org/drawingml/2006/main">
              <a:ext uri="{FF2B5EF4-FFF2-40B4-BE49-F238E27FC236}">
                <a16:creationId xmlns:a16="http://schemas.microsoft.com/office/drawing/2014/main" id="{6E1CC815-0809-4C64-86F8-CA2A6055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1146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FULL</a:t>
            </a:r>
          </a:p>
        </p:txBody>
      </p:sp>
      <p:sp>
        <p:nvSpPr>
          <p:cNvPr id="19" name="deg-cell-7-0-2">
            <a:extLst xmlns:a="http://schemas.openxmlformats.org/drawingml/2006/main">
              <a:ext uri="{FF2B5EF4-FFF2-40B4-BE49-F238E27FC236}">
                <a16:creationId xmlns:a16="http://schemas.microsoft.com/office/drawing/2014/main" id="{4F8AA08C-F6C9-45FA-8A0B-E61E6418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146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0" name="deg-cell-text-7-0-2">
            <a:extLst xmlns:a="http://schemas.openxmlformats.org/drawingml/2006/main">
              <a:ext uri="{FF2B5EF4-FFF2-40B4-BE49-F238E27FC236}">
                <a16:creationId xmlns:a16="http://schemas.microsoft.com/office/drawing/2014/main" id="{04143B85-6E10-4100-824D-1B56E819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DEGRADED + REVIEW</a:t>
            </a:r>
          </a:p>
        </p:txBody>
      </p:sp>
      <p:sp>
        <p:nvSpPr>
          <p:cNvPr id="21" name="deg-cell-7-0-3">
            <a:extLst xmlns:a="http://schemas.openxmlformats.org/drawingml/2006/main">
              <a:ext uri="{FF2B5EF4-FFF2-40B4-BE49-F238E27FC236}">
                <a16:creationId xmlns:a16="http://schemas.microsoft.com/office/drawing/2014/main" id="{D4A2CFA2-BB2E-4638-95F7-87ED1C82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323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E1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2" name="deg-cell-text-7-0-3">
            <a:extLst xmlns:a="http://schemas.openxmlformats.org/drawingml/2006/main">
              <a:ext uri="{FF2B5EF4-FFF2-40B4-BE49-F238E27FC236}">
                <a16:creationId xmlns:a16="http://schemas.microsoft.com/office/drawing/2014/main" id="{AE5BBA24-FC1B-4723-8DFB-8CE223B3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1467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BASE_ONLY + REVIEW</a:t>
            </a:r>
          </a:p>
        </p:txBody>
      </p:sp>
      <p:sp>
        <p:nvSpPr>
          <p:cNvPr id="23" name="deg-cell-7-1-0">
            <a:extLst xmlns:a="http://schemas.openxmlformats.org/drawingml/2006/main">
              <a:ext uri="{FF2B5EF4-FFF2-40B4-BE49-F238E27FC236}">
                <a16:creationId xmlns:a16="http://schemas.microsoft.com/office/drawing/2014/main" id="{FE5ED900-2C84-4F0D-8697-B2F9E7E6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4" name="deg-cell-text-7-1-0">
            <a:extLst xmlns:a="http://schemas.openxmlformats.org/drawingml/2006/main">
              <a:ext uri="{FF2B5EF4-FFF2-40B4-BE49-F238E27FC236}">
                <a16:creationId xmlns:a16="http://schemas.microsoft.com/office/drawing/2014/main" id="{62F2BCE3-F166-472B-A4B7-C30B76E0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433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项目总结</a:t>
            </a:r>
          </a:p>
        </p:txBody>
      </p:sp>
      <p:sp>
        <p:nvSpPr>
          <p:cNvPr id="25" name="deg-cell-7-1-1">
            <a:extLst xmlns:a="http://schemas.openxmlformats.org/drawingml/2006/main">
              <a:ext uri="{FF2B5EF4-FFF2-40B4-BE49-F238E27FC236}">
                <a16:creationId xmlns:a16="http://schemas.microsoft.com/office/drawing/2014/main" id="{984EC0BD-96C3-4DB1-ACB2-02369332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433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6" name="deg-cell-text-7-1-1">
            <a:extLst xmlns:a="http://schemas.openxmlformats.org/drawingml/2006/main">
              <a:ext uri="{FF2B5EF4-FFF2-40B4-BE49-F238E27FC236}">
                <a16:creationId xmlns:a16="http://schemas.microsoft.com/office/drawing/2014/main" id="{8B021625-67DB-4EC4-8FB0-E9461C84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74332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FULL</a:t>
            </a:r>
          </a:p>
        </p:txBody>
      </p:sp>
      <p:sp>
        <p:nvSpPr>
          <p:cNvPr id="27" name="deg-cell-7-1-2">
            <a:extLst xmlns:a="http://schemas.openxmlformats.org/drawingml/2006/main">
              <a:ext uri="{FF2B5EF4-FFF2-40B4-BE49-F238E27FC236}">
                <a16:creationId xmlns:a16="http://schemas.microsoft.com/office/drawing/2014/main" id="{13E5CDCF-DA0C-4ADB-A59E-63AEE372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8" name="deg-cell-text-7-1-2">
            <a:extLst xmlns:a="http://schemas.openxmlformats.org/drawingml/2006/main">
              <a:ext uri="{FF2B5EF4-FFF2-40B4-BE49-F238E27FC236}">
                <a16:creationId xmlns:a16="http://schemas.microsoft.com/office/drawing/2014/main" id="{1ADAA06C-5987-4506-903B-58F1CAEF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7433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DEGRADED + REVIEW</a:t>
            </a:r>
          </a:p>
        </p:txBody>
      </p:sp>
      <p:sp>
        <p:nvSpPr>
          <p:cNvPr id="29" name="deg-cell-7-1-3">
            <a:extLst xmlns:a="http://schemas.openxmlformats.org/drawingml/2006/main">
              <a:ext uri="{FF2B5EF4-FFF2-40B4-BE49-F238E27FC236}">
                <a16:creationId xmlns:a16="http://schemas.microsoft.com/office/drawing/2014/main" id="{7ECFDD20-B391-4328-B2A6-F7A210A2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23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E1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0" name="deg-cell-text-7-1-3">
            <a:extLst xmlns:a="http://schemas.openxmlformats.org/drawingml/2006/main">
              <a:ext uri="{FF2B5EF4-FFF2-40B4-BE49-F238E27FC236}">
                <a16:creationId xmlns:a16="http://schemas.microsoft.com/office/drawing/2014/main" id="{9C0BF2BA-C810-42E5-9230-BDAE765E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7433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BASE_ONLY + REVIEW</a:t>
            </a:r>
          </a:p>
        </p:txBody>
      </p:sp>
      <p:sp>
        <p:nvSpPr>
          <p:cNvPr id="31" name="deg-cell-7-2-0">
            <a:extLst xmlns:a="http://schemas.openxmlformats.org/drawingml/2006/main">
              <a:ext uri="{FF2B5EF4-FFF2-40B4-BE49-F238E27FC236}">
                <a16:creationId xmlns:a16="http://schemas.microsoft.com/office/drawing/2014/main" id="{3962D72E-5EDD-4399-82E2-F8587CDD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2" name="deg-cell-text-7-2-0">
            <a:extLst xmlns:a="http://schemas.openxmlformats.org/drawingml/2006/main">
              <a:ext uri="{FF2B5EF4-FFF2-40B4-BE49-F238E27FC236}">
                <a16:creationId xmlns:a16="http://schemas.microsoft.com/office/drawing/2014/main" id="{6CDDC799-A70E-425D-8AC0-0737D943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3719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多模态</a:t>
            </a:r>
          </a:p>
        </p:txBody>
      </p:sp>
      <p:sp>
        <p:nvSpPr>
          <p:cNvPr id="33" name="deg-cell-7-2-1">
            <a:extLst xmlns:a="http://schemas.openxmlformats.org/drawingml/2006/main">
              <a:ext uri="{FF2B5EF4-FFF2-40B4-BE49-F238E27FC236}">
                <a16:creationId xmlns:a16="http://schemas.microsoft.com/office/drawing/2014/main" id="{AD89480B-E92B-4C1D-97A3-7B93C91F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719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4" name="deg-cell-text-7-2-1">
            <a:extLst xmlns:a="http://schemas.openxmlformats.org/drawingml/2006/main">
              <a:ext uri="{FF2B5EF4-FFF2-40B4-BE49-F238E27FC236}">
                <a16:creationId xmlns:a16="http://schemas.microsoft.com/office/drawing/2014/main" id="{8CDBEEF4-592A-4237-9D06-9BC43FE7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3719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FULL</a:t>
            </a:r>
          </a:p>
        </p:txBody>
      </p:sp>
      <p:sp>
        <p:nvSpPr>
          <p:cNvPr id="35" name="deg-cell-7-2-2">
            <a:extLst xmlns:a="http://schemas.openxmlformats.org/drawingml/2006/main">
              <a:ext uri="{FF2B5EF4-FFF2-40B4-BE49-F238E27FC236}">
                <a16:creationId xmlns:a16="http://schemas.microsoft.com/office/drawing/2014/main" id="{5723020B-4FB9-422D-8998-160C2F72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719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6" name="deg-cell-text-7-2-2">
            <a:extLst xmlns:a="http://schemas.openxmlformats.org/drawingml/2006/main">
              <a:ext uri="{FF2B5EF4-FFF2-40B4-BE49-F238E27FC236}">
                <a16:creationId xmlns:a16="http://schemas.microsoft.com/office/drawing/2014/main" id="{AC9D4AE7-8E45-4726-800B-45172657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37197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DEGRADED + REVIEW</a:t>
            </a:r>
          </a:p>
        </p:txBody>
      </p:sp>
      <p:sp>
        <p:nvSpPr>
          <p:cNvPr id="37" name="deg-cell-7-2-3">
            <a:extLst xmlns:a="http://schemas.openxmlformats.org/drawingml/2006/main">
              <a:ext uri="{FF2B5EF4-FFF2-40B4-BE49-F238E27FC236}">
                <a16:creationId xmlns:a16="http://schemas.microsoft.com/office/drawing/2014/main" id="{9C63CD79-0142-47F6-A257-9161F9D3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71950"/>
            <a:ext cx="323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E1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8" name="deg-cell-text-7-2-3">
            <a:extLst xmlns:a="http://schemas.openxmlformats.org/drawingml/2006/main">
              <a:ext uri="{FF2B5EF4-FFF2-40B4-BE49-F238E27FC236}">
                <a16:creationId xmlns:a16="http://schemas.microsoft.com/office/drawing/2014/main" id="{373A5496-93A2-4545-B727-8101E4EF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37197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BASE_ONLY + REVIEW</a:t>
            </a:r>
          </a:p>
        </p:txBody>
      </p:sp>
      <p:sp>
        <p:nvSpPr>
          <p:cNvPr id="39" name="deg-cell-7-3-0">
            <a:extLst xmlns:a="http://schemas.openxmlformats.org/drawingml/2006/main">
              <a:ext uri="{FF2B5EF4-FFF2-40B4-BE49-F238E27FC236}">
                <a16:creationId xmlns:a16="http://schemas.microsoft.com/office/drawing/2014/main" id="{2B984B54-CC94-45EC-84E2-054DA43E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0" name="deg-cell-text-7-3-0">
            <a:extLst xmlns:a="http://schemas.openxmlformats.org/drawingml/2006/main">
              <a:ext uri="{FF2B5EF4-FFF2-40B4-BE49-F238E27FC236}">
                <a16:creationId xmlns:a16="http://schemas.microsoft.com/office/drawing/2014/main" id="{B533ED0B-CDAD-44F7-B1E1-20C6A562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006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成品 PPT</a:t>
            </a:r>
          </a:p>
        </p:txBody>
      </p:sp>
      <p:sp>
        <p:nvSpPr>
          <p:cNvPr id="41" name="deg-cell-7-3-1">
            <a:extLst xmlns:a="http://schemas.openxmlformats.org/drawingml/2006/main">
              <a:ext uri="{FF2B5EF4-FFF2-40B4-BE49-F238E27FC236}">
                <a16:creationId xmlns:a16="http://schemas.microsoft.com/office/drawing/2014/main" id="{00F289C7-FF6F-4587-A205-9D709CBE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006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2" name="deg-cell-text-7-3-1">
            <a:extLst xmlns:a="http://schemas.openxmlformats.org/drawingml/2006/main">
              <a:ext uri="{FF2B5EF4-FFF2-40B4-BE49-F238E27FC236}">
                <a16:creationId xmlns:a16="http://schemas.microsoft.com/office/drawing/2014/main" id="{70C4A09A-A421-45E1-B60F-E52EF05F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00062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FULL (base)</a:t>
            </a:r>
          </a:p>
        </p:txBody>
      </p:sp>
      <p:sp>
        <p:nvSpPr>
          <p:cNvPr id="43" name="deg-cell-7-3-2">
            <a:extLst xmlns:a="http://schemas.openxmlformats.org/drawingml/2006/main">
              <a:ext uri="{FF2B5EF4-FFF2-40B4-BE49-F238E27FC236}">
                <a16:creationId xmlns:a16="http://schemas.microsoft.com/office/drawing/2014/main" id="{252E18C4-2A41-4681-BAA7-80AD5D88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0060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4" name="deg-cell-text-7-3-2">
            <a:extLst xmlns:a="http://schemas.openxmlformats.org/drawingml/2006/main">
              <a:ext uri="{FF2B5EF4-FFF2-40B4-BE49-F238E27FC236}">
                <a16:creationId xmlns:a16="http://schemas.microsoft.com/office/drawing/2014/main" id="{C7283826-AE59-43D7-9732-97A2D90E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0006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N/A</a:t>
            </a:r>
          </a:p>
        </p:txBody>
      </p:sp>
      <p:sp>
        <p:nvSpPr>
          <p:cNvPr id="45" name="deg-cell-7-3-3">
            <a:extLst xmlns:a="http://schemas.openxmlformats.org/drawingml/2006/main">
              <a:ext uri="{FF2B5EF4-FFF2-40B4-BE49-F238E27FC236}">
                <a16:creationId xmlns:a16="http://schemas.microsoft.com/office/drawing/2014/main" id="{CF32D398-9D72-4FF4-AACE-573A9AC1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00600"/>
            <a:ext cx="323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6" name="deg-cell-text-7-3-3">
            <a:extLst xmlns:a="http://schemas.openxmlformats.org/drawingml/2006/main">
              <a:ext uri="{FF2B5EF4-FFF2-40B4-BE49-F238E27FC236}">
                <a16:creationId xmlns:a16="http://schemas.microsoft.com/office/drawing/2014/main" id="{FDA33A4F-9A3D-45DE-BA87-F07ADD88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00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N/A</a:t>
            </a:r>
          </a:p>
        </p:txBody>
      </p:sp>
      <p:sp>
        <p:nvSpPr>
          <p:cNvPr id="47" name="deg-rule-7">
            <a:extLst xmlns:a="http://schemas.openxmlformats.org/drawingml/2006/main">
              <a:ext uri="{FF2B5EF4-FFF2-40B4-BE49-F238E27FC236}">
                <a16:creationId xmlns:a16="http://schemas.microsoft.com/office/drawing/2014/main" id="{446FFA70-5FAD-4565-82CE-6C4229BD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536"/>
                </a:solidFill>
                <a:latin typeface="Microsoft YaHei"/>
                <a:ea typeface="Microsoft YaHei"/>
                <a:cs typeface="Microsoft YaHei"/>
              </a:rPr>
              <a:t>不变量：前三场景无论专项如何失败，base_score 与基础证据都必须保留；full_score 为空。</a:t>
            </a:r>
          </a:p>
        </p:txBody>
      </p:sp>
    </p:spTree>
    <p:extLst>
      <p:ext uri="{BB962C8B-B14F-4D97-AF65-F5344CB8AC3E}">
        <p14:creationId xmlns:p14="http://schemas.microsoft.com/office/powerpoint/2010/main" val="13487561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chapter-8">
            <a:extLst xmlns:a="http://schemas.openxmlformats.org/drawingml/2006/main">
              <a:ext uri="{FF2B5EF4-FFF2-40B4-BE49-F238E27FC236}">
                <a16:creationId xmlns:a16="http://schemas.microsoft.com/office/drawing/2014/main" id="{B8FEED83-DD7E-4B6F-ADBC-A4D93B1C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评测 / 03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2A320DC-5670-46A4-9348-60DE0202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飞轮只提候选，生产发布仍由人治理</a:t>
            </a:r>
          </a:p>
        </p:txBody>
      </p:sp>
      <p:sp>
        <p:nvSpPr>
          <p:cNvPr id="3" name="number-8">
            <a:extLst xmlns:a="http://schemas.openxmlformats.org/drawingml/2006/main">
              <a:ext uri="{FF2B5EF4-FFF2-40B4-BE49-F238E27FC236}">
                <a16:creationId xmlns:a16="http://schemas.microsoft.com/office/drawing/2014/main" id="{DEEE0A06-54EA-45AD-9C69-96F9B46F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42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FB10A776-711C-412A-9478-1EE8D6A3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9DEF17DB-B59E-4F11-950B-DAB66F8F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PRJ-PPT-EVAL-001 · mvp_implemented_production_validation_pending · snapshot 2026-08-26T18:00:00+08:00</a:t>
            </a:r>
          </a:p>
        </p:txBody>
      </p:sp>
      <p:sp>
        <p:nvSpPr>
          <p:cNvPr id="6" name="claim-8">
            <a:extLst xmlns:a="http://schemas.openxmlformats.org/drawingml/2006/main">
              <a:ext uri="{FF2B5EF4-FFF2-40B4-BE49-F238E27FC236}">
                <a16:creationId xmlns:a16="http://schemas.microsoft.com/office/drawing/2014/main" id="{9C6D4209-9235-4F11-9F20-A60EBFD0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生产反馈进入工作池，经冻结集、Shadow 和审批后演进。</a:t>
            </a:r>
          </a:p>
        </p:txBody>
      </p:sp>
      <p:sp>
        <p:nvSpPr>
          <p:cNvPr id="7" name="fly-node-8-0">
            <a:extLst xmlns:a="http://schemas.openxmlformats.org/drawingml/2006/main">
              <a:ext uri="{FF2B5EF4-FFF2-40B4-BE49-F238E27FC236}">
                <a16:creationId xmlns:a16="http://schemas.microsoft.com/office/drawing/2014/main" id="{5E29740B-9463-4271-A6DD-DE1BDA69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8" name="fly-num-8-0">
            <a:extLst xmlns:a="http://schemas.openxmlformats.org/drawingml/2006/main">
              <a:ext uri="{FF2B5EF4-FFF2-40B4-BE49-F238E27FC236}">
                <a16:creationId xmlns:a16="http://schemas.microsoft.com/office/drawing/2014/main" id="{C69AF588-7137-45AF-976F-821C61EB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fly-text-8-0">
            <a:extLst xmlns:a="http://schemas.openxmlformats.org/drawingml/2006/main">
              <a:ext uri="{FF2B5EF4-FFF2-40B4-BE49-F238E27FC236}">
                <a16:creationId xmlns:a16="http://schemas.microsoft.com/office/drawing/2014/main" id="{BE903A25-8441-4F5F-AFD8-C633A4CB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生产反馈</a:t>
            </a:r>
          </a:p>
        </p:txBody>
      </p:sp>
      <p:sp>
        <p:nvSpPr>
          <p:cNvPr id="10" name="fly-arrow-8-0">
            <a:extLst xmlns:a="http://schemas.openxmlformats.org/drawingml/2006/main">
              <a:ext uri="{FF2B5EF4-FFF2-40B4-BE49-F238E27FC236}">
                <a16:creationId xmlns:a16="http://schemas.microsoft.com/office/drawing/2014/main" id="{974EC2EB-00AB-4D87-8F1D-00C6D6A9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81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y-node-8-1">
            <a:extLst xmlns:a="http://schemas.openxmlformats.org/drawingml/2006/main">
              <a:ext uri="{FF2B5EF4-FFF2-40B4-BE49-F238E27FC236}">
                <a16:creationId xmlns:a16="http://schemas.microsoft.com/office/drawing/2014/main" id="{64B69956-7E46-4299-A227-3B06E779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2" name="fly-num-8-1">
            <a:extLst xmlns:a="http://schemas.openxmlformats.org/drawingml/2006/main">
              <a:ext uri="{FF2B5EF4-FFF2-40B4-BE49-F238E27FC236}">
                <a16:creationId xmlns:a16="http://schemas.microsoft.com/office/drawing/2014/main" id="{CCE7253E-24BC-4E58-B187-F4FAD36D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fly-text-8-1">
            <a:extLst xmlns:a="http://schemas.openxmlformats.org/drawingml/2006/main">
              <a:ext uri="{FF2B5EF4-FFF2-40B4-BE49-F238E27FC236}">
                <a16:creationId xmlns:a16="http://schemas.microsoft.com/office/drawing/2014/main" id="{15B1A64F-5176-4325-8845-835AA93E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622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候选生成</a:t>
            </a:r>
          </a:p>
        </p:txBody>
      </p:sp>
      <p:sp>
        <p:nvSpPr>
          <p:cNvPr id="14" name="fly-arrow-8-1">
            <a:extLst xmlns:a="http://schemas.openxmlformats.org/drawingml/2006/main">
              <a:ext uri="{FF2B5EF4-FFF2-40B4-BE49-F238E27FC236}">
                <a16:creationId xmlns:a16="http://schemas.microsoft.com/office/drawing/2014/main" id="{144BAD82-A367-4BB2-B22A-CFD9CF2D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81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fly-node-8-2">
            <a:extLst xmlns:a="http://schemas.openxmlformats.org/drawingml/2006/main">
              <a:ext uri="{FF2B5EF4-FFF2-40B4-BE49-F238E27FC236}">
                <a16:creationId xmlns:a16="http://schemas.microsoft.com/office/drawing/2014/main" id="{740282A1-70F9-4061-90E7-CEB96A23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7650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6" name="fly-num-8-2">
            <a:extLst xmlns:a="http://schemas.openxmlformats.org/drawingml/2006/main">
              <a:ext uri="{FF2B5EF4-FFF2-40B4-BE49-F238E27FC236}">
                <a16:creationId xmlns:a16="http://schemas.microsoft.com/office/drawing/2014/main" id="{69D0EF6C-29E6-459C-96E7-FDA1051B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fly-text-8-2">
            <a:extLst xmlns:a="http://schemas.openxmlformats.org/drawingml/2006/main">
              <a:ext uri="{FF2B5EF4-FFF2-40B4-BE49-F238E27FC236}">
                <a16:creationId xmlns:a16="http://schemas.microsoft.com/office/drawing/2014/main" id="{C8A159D6-3315-4552-AE07-D8CD588C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622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校准回放</a:t>
            </a:r>
          </a:p>
        </p:txBody>
      </p:sp>
      <p:sp>
        <p:nvSpPr>
          <p:cNvPr id="18" name="fly-arrow-8-2">
            <a:extLst xmlns:a="http://schemas.openxmlformats.org/drawingml/2006/main">
              <a:ext uri="{FF2B5EF4-FFF2-40B4-BE49-F238E27FC236}">
                <a16:creationId xmlns:a16="http://schemas.microsoft.com/office/drawing/2014/main" id="{52A2810C-F8C7-4AB3-86EA-9C4A8395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81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fly-node-8-3">
            <a:extLst xmlns:a="http://schemas.openxmlformats.org/drawingml/2006/main">
              <a:ext uri="{FF2B5EF4-FFF2-40B4-BE49-F238E27FC236}">
                <a16:creationId xmlns:a16="http://schemas.microsoft.com/office/drawing/2014/main" id="{73A1DACB-0405-43B1-BFBA-41C6A890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7650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19050">
            <a:solidFill>
              <a:srgbClr val="087E72"/>
            </a:solidFill>
            <a:prstDash val="solid"/>
          </a:ln>
        </p:spPr>
      </p:sp>
      <p:sp>
        <p:nvSpPr>
          <p:cNvPr id="20" name="fly-num-8-3">
            <a:extLst xmlns:a="http://schemas.openxmlformats.org/drawingml/2006/main">
              <a:ext uri="{FF2B5EF4-FFF2-40B4-BE49-F238E27FC236}">
                <a16:creationId xmlns:a16="http://schemas.microsoft.com/office/drawing/2014/main" id="{9C726C65-E5CD-4305-8591-C2676459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fly-text-8-3">
            <a:extLst xmlns:a="http://schemas.openxmlformats.org/drawingml/2006/main">
              <a:ext uri="{FF2B5EF4-FFF2-40B4-BE49-F238E27FC236}">
                <a16:creationId xmlns:a16="http://schemas.microsoft.com/office/drawing/2014/main" id="{C327B9A7-51E0-46A7-8746-2C4933DF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622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人工审批</a:t>
            </a:r>
          </a:p>
        </p:txBody>
      </p:sp>
      <p:sp>
        <p:nvSpPr>
          <p:cNvPr id="22" name="fly-arrow-8-3">
            <a:extLst xmlns:a="http://schemas.openxmlformats.org/drawingml/2006/main">
              <a:ext uri="{FF2B5EF4-FFF2-40B4-BE49-F238E27FC236}">
                <a16:creationId xmlns:a16="http://schemas.microsoft.com/office/drawing/2014/main" id="{9A0D2277-3885-4085-AD7A-71897B3C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81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fly-node-8-4">
            <a:extLst xmlns:a="http://schemas.openxmlformats.org/drawingml/2006/main">
              <a:ext uri="{FF2B5EF4-FFF2-40B4-BE49-F238E27FC236}">
                <a16:creationId xmlns:a16="http://schemas.microsoft.com/office/drawing/2014/main" id="{ED4A8926-55F2-4ED5-BF51-F4213E54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7650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4" name="fly-num-8-4">
            <a:extLst xmlns:a="http://schemas.openxmlformats.org/drawingml/2006/main">
              <a:ext uri="{FF2B5EF4-FFF2-40B4-BE49-F238E27FC236}">
                <a16:creationId xmlns:a16="http://schemas.microsoft.com/office/drawing/2014/main" id="{083305FE-B21E-4E7F-AD40-886CA4E7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fly-text-8-4">
            <a:extLst xmlns:a="http://schemas.openxmlformats.org/drawingml/2006/main">
              <a:ext uri="{FF2B5EF4-FFF2-40B4-BE49-F238E27FC236}">
                <a16:creationId xmlns:a16="http://schemas.microsoft.com/office/drawing/2014/main" id="{C965A57E-9C26-4B52-88FB-1D40AD42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622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Shadow</a:t>
            </a:r>
          </a:p>
        </p:txBody>
      </p:sp>
      <p:sp>
        <p:nvSpPr>
          <p:cNvPr id="26" name="fly-arrow-8-4">
            <a:extLst xmlns:a="http://schemas.openxmlformats.org/drawingml/2006/main">
              <a:ext uri="{FF2B5EF4-FFF2-40B4-BE49-F238E27FC236}">
                <a16:creationId xmlns:a16="http://schemas.microsoft.com/office/drawing/2014/main" id="{FF122D27-CAC3-4C94-A52C-3F167BD4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fly-node-8-5">
            <a:extLst xmlns:a="http://schemas.openxmlformats.org/drawingml/2006/main">
              <a:ext uri="{FF2B5EF4-FFF2-40B4-BE49-F238E27FC236}">
                <a16:creationId xmlns:a16="http://schemas.microsoft.com/office/drawing/2014/main" id="{87BAF1B3-078E-4FF8-95CF-778CE5D5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7650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8" name="fly-num-8-5">
            <a:extLst xmlns:a="http://schemas.openxmlformats.org/drawingml/2006/main">
              <a:ext uri="{FF2B5EF4-FFF2-40B4-BE49-F238E27FC236}">
                <a16:creationId xmlns:a16="http://schemas.microsoft.com/office/drawing/2014/main" id="{8118EB1E-3393-4892-BED9-777E3E3E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193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9" name="fly-text-8-5">
            <a:extLst xmlns:a="http://schemas.openxmlformats.org/drawingml/2006/main">
              <a:ext uri="{FF2B5EF4-FFF2-40B4-BE49-F238E27FC236}">
                <a16:creationId xmlns:a16="http://schemas.microsoft.com/office/drawing/2014/main" id="{190776CC-5BEB-4FB7-86F1-38E0BD58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622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灰度发布</a:t>
            </a:r>
          </a:p>
        </p:txBody>
      </p:sp>
      <p:sp>
        <p:nvSpPr>
          <p:cNvPr id="30" name="shadow-8">
            <a:extLst xmlns:a="http://schemas.openxmlformats.org/drawingml/2006/main">
              <a:ext uri="{FF2B5EF4-FFF2-40B4-BE49-F238E27FC236}">
                <a16:creationId xmlns:a16="http://schemas.microsoft.com/office/drawing/2014/main" id="{D4AF5113-F10B-44D6-912E-DAD2DCF4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418"/>
                </a:solidFill>
                <a:latin typeface="Microsoft YaHei"/>
                <a:ea typeface="Microsoft YaHei"/>
                <a:cs typeface="Microsoft YaHei"/>
              </a:rPr>
              <a:t>Shadow：≥2 周或 ≥1,000 份，以较晚满足者为准</a:t>
            </a:r>
          </a:p>
        </p:txBody>
      </p:sp>
      <p:sp>
        <p:nvSpPr>
          <p:cNvPr id="31" name="target-value-8-0">
            <a:extLst xmlns:a="http://schemas.openxmlformats.org/drawingml/2006/main">
              <a:ext uri="{FF2B5EF4-FFF2-40B4-BE49-F238E27FC236}">
                <a16:creationId xmlns:a16="http://schemas.microsoft.com/office/drawing/2014/main" id="{44BCF86F-DF34-4810-8D58-4C67EB26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≥0.80</a:t>
            </a:r>
          </a:p>
        </p:txBody>
      </p:sp>
      <p:sp>
        <p:nvSpPr>
          <p:cNvPr id="32" name="target-name-8-0">
            <a:extLst xmlns:a="http://schemas.openxmlformats.org/drawingml/2006/main">
              <a:ext uri="{FF2B5EF4-FFF2-40B4-BE49-F238E27FC236}">
                <a16:creationId xmlns:a16="http://schemas.microsoft.com/office/drawing/2014/main" id="{40581523-8216-4EB7-8D45-4E9AE9F1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客观人评 α</a:t>
            </a:r>
          </a:p>
        </p:txBody>
      </p:sp>
      <p:sp>
        <p:nvSpPr>
          <p:cNvPr id="33" name="target-value-8-1">
            <a:extLst xmlns:a="http://schemas.openxmlformats.org/drawingml/2006/main">
              <a:ext uri="{FF2B5EF4-FFF2-40B4-BE49-F238E27FC236}">
                <a16:creationId xmlns:a16="http://schemas.microsoft.com/office/drawing/2014/main" id="{8DCBAF6D-39C3-4309-B925-1BE51B2E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482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≥0.80</a:t>
            </a:r>
          </a:p>
        </p:txBody>
      </p:sp>
      <p:sp>
        <p:nvSpPr>
          <p:cNvPr id="34" name="target-name-8-1">
            <a:extLst xmlns:a="http://schemas.openxmlformats.org/drawingml/2006/main">
              <a:ext uri="{FF2B5EF4-FFF2-40B4-BE49-F238E27FC236}">
                <a16:creationId xmlns:a16="http://schemas.microsoft.com/office/drawing/2014/main" id="{E4DA4EC9-45B9-4045-A68A-8D24DFE0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05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人工成对一致率</a:t>
            </a:r>
          </a:p>
        </p:txBody>
      </p:sp>
      <p:sp>
        <p:nvSpPr>
          <p:cNvPr id="35" name="target-value-8-2">
            <a:extLst xmlns:a="http://schemas.openxmlformats.org/drawingml/2006/main">
              <a:ext uri="{FF2B5EF4-FFF2-40B4-BE49-F238E27FC236}">
                <a16:creationId xmlns:a16="http://schemas.microsoft.com/office/drawing/2014/main" id="{28F13082-1AA0-4FF3-B509-66354461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482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≥0.98</a:t>
            </a:r>
          </a:p>
        </p:txBody>
      </p:sp>
      <p:sp>
        <p:nvSpPr>
          <p:cNvPr id="36" name="target-name-8-2">
            <a:extLst xmlns:a="http://schemas.openxmlformats.org/drawingml/2006/main">
              <a:ext uri="{FF2B5EF4-FFF2-40B4-BE49-F238E27FC236}">
                <a16:creationId xmlns:a16="http://schemas.microsoft.com/office/drawing/2014/main" id="{0E039180-6F9B-44F9-A8F4-D0AF91B1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05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高置信拦截精度</a:t>
            </a:r>
          </a:p>
        </p:txBody>
      </p:sp>
      <p:sp>
        <p:nvSpPr>
          <p:cNvPr id="37" name="target-value-8-3">
            <a:extLst xmlns:a="http://schemas.openxmlformats.org/drawingml/2006/main">
              <a:ext uri="{FF2B5EF4-FFF2-40B4-BE49-F238E27FC236}">
                <a16:creationId xmlns:a16="http://schemas.microsoft.com/office/drawing/2014/main" id="{4E1E73C4-2B6D-48BE-8F89-4A6B7139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482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&lt;0.01</a:t>
            </a:r>
          </a:p>
        </p:txBody>
      </p:sp>
      <p:sp>
        <p:nvSpPr>
          <p:cNvPr id="38" name="target-name-8-3">
            <a:extLst xmlns:a="http://schemas.openxmlformats.org/drawingml/2006/main">
              <a:ext uri="{FF2B5EF4-FFF2-40B4-BE49-F238E27FC236}">
                <a16:creationId xmlns:a16="http://schemas.microsoft.com/office/drawing/2014/main" id="{88590DFB-42EF-47F1-B207-270BFDB0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05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严重误放行率 95% 上界</a:t>
            </a:r>
          </a:p>
        </p:txBody>
      </p:sp>
      <p:sp>
        <p:nvSpPr>
          <p:cNvPr id="39" name="target-value-8-4">
            <a:extLst xmlns:a="http://schemas.openxmlformats.org/drawingml/2006/main">
              <a:ext uri="{FF2B5EF4-FFF2-40B4-BE49-F238E27FC236}">
                <a16:creationId xmlns:a16="http://schemas.microsoft.com/office/drawing/2014/main" id="{ABECD35C-60CC-4334-843A-945D1997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482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7D2"/>
                </a:solidFill>
                <a:latin typeface="Microsoft YaHei"/>
                <a:ea typeface="Microsoft YaHei"/>
                <a:cs typeface="Microsoft YaHei"/>
              </a:rPr>
              <a:t>≥0.99</a:t>
            </a:r>
          </a:p>
        </p:txBody>
      </p:sp>
      <p:sp>
        <p:nvSpPr>
          <p:cNvPr id="40" name="target-name-8-4">
            <a:extLst xmlns:a="http://schemas.openxmlformats.org/drawingml/2006/main">
              <a:ext uri="{FF2B5EF4-FFF2-40B4-BE49-F238E27FC236}">
                <a16:creationId xmlns:a16="http://schemas.microsoft.com/office/drawing/2014/main" id="{6BB835C5-814E-4923-9B26-BD49784E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05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570"/>
                </a:solidFill>
                <a:latin typeface="Microsoft YaHei"/>
                <a:ea typeface="Microsoft YaHei"/>
                <a:cs typeface="Microsoft YaHei"/>
              </a:rPr>
              <a:t>门禁重复一致率</a:t>
            </a:r>
          </a:p>
        </p:txBody>
      </p:sp>
      <p:sp>
        <p:nvSpPr>
          <p:cNvPr id="41" name="close-8">
            <a:extLst xmlns:a="http://schemas.openxmlformats.org/drawingml/2006/main">
              <a:ext uri="{FF2B5EF4-FFF2-40B4-BE49-F238E27FC236}">
                <a16:creationId xmlns:a16="http://schemas.microsoft.com/office/drawing/2014/main" id="{D90C06B1-2BCA-4D4A-9E57-33414146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24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E72"/>
                </a:solidFill>
                <a:latin typeface="Microsoft YaHei"/>
                <a:ea typeface="Microsoft YaHei"/>
                <a:cs typeface="Microsoft YaHei"/>
              </a:rPr>
              <a:t>可演进，但不能绕过冻结集、Shadow 与人类治理。</a:t>
            </a:r>
          </a:p>
        </p:txBody>
      </p:sp>
    </p:spTree>
    <p:extLst>
      <p:ext uri="{BB962C8B-B14F-4D97-AF65-F5344CB8AC3E}">
        <p14:creationId xmlns:p14="http://schemas.microsoft.com/office/powerpoint/2010/main" val="12335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2026-08-26T07:08:08.2360000Z</dcterms:created>
  <dcterms:modified xsi:type="dcterms:W3CDTF">2026-08-26T07:08:08.2370000Z</dcterms:modified>
</coreProperties>
</file>